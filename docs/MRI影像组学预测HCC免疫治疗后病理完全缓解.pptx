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  <p:sldId id="410" r:id="rId4"/>
    <p:sldId id="412" r:id="rId5"/>
    <p:sldId id="417" r:id="rId6"/>
    <p:sldId id="416" r:id="rId7"/>
    <p:sldId id="426" r:id="rId8"/>
    <p:sldId id="427" r:id="rId9"/>
    <p:sldId id="432" r:id="rId10"/>
    <p:sldId id="428" r:id="rId11"/>
    <p:sldId id="435" r:id="rId12"/>
    <p:sldId id="429" r:id="rId13"/>
    <p:sldId id="431" r:id="rId14"/>
    <p:sldId id="434" r:id="rId15"/>
    <p:sldId id="430" r:id="rId16"/>
    <p:sldId id="436" r:id="rId17"/>
    <p:sldId id="437" r:id="rId18"/>
    <p:sldId id="438" r:id="rId19"/>
    <p:sldId id="411" r:id="rId20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29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tags" Target="../tags/tag6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109.xml"/><Relationship Id="rId20" Type="http://schemas.openxmlformats.org/officeDocument/2006/relationships/tags" Target="../tags/tag108.xml"/><Relationship Id="rId2" Type="http://schemas.openxmlformats.org/officeDocument/2006/relationships/tags" Target="../tags/tag96.xml"/><Relationship Id="rId19" Type="http://schemas.openxmlformats.org/officeDocument/2006/relationships/tags" Target="../tags/tag107.xml"/><Relationship Id="rId18" Type="http://schemas.openxmlformats.org/officeDocument/2006/relationships/tags" Target="../tags/tag106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image" Target="../media/image6.svg"/><Relationship Id="rId13" Type="http://schemas.openxmlformats.org/officeDocument/2006/relationships/image" Target="../media/image5.png"/><Relationship Id="rId12" Type="http://schemas.openxmlformats.org/officeDocument/2006/relationships/tags" Target="../tags/tag102.xml"/><Relationship Id="rId11" Type="http://schemas.openxmlformats.org/officeDocument/2006/relationships/image" Target="../media/image4.svg"/><Relationship Id="rId10" Type="http://schemas.openxmlformats.org/officeDocument/2006/relationships/image" Target="../media/image3.png"/><Relationship Id="rId1" Type="http://schemas.openxmlformats.org/officeDocument/2006/relationships/tags" Target="../tags/tag9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4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1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3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1976755"/>
            <a:ext cx="278130" cy="29495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913870" y="1953895"/>
            <a:ext cx="278130" cy="29495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788670" y="1296035"/>
            <a:ext cx="4497070" cy="444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duation-hat-front-view_27483"/>
          <p:cNvSpPr>
            <a:spLocks noChangeAspect="1"/>
          </p:cNvSpPr>
          <p:nvPr/>
        </p:nvSpPr>
        <p:spPr bwMode="auto">
          <a:xfrm>
            <a:off x="5285673" y="664409"/>
            <a:ext cx="1605412" cy="1014432"/>
          </a:xfrm>
          <a:custGeom>
            <a:avLst/>
            <a:gdLst>
              <a:gd name="connsiteX0" fmla="*/ 104550 w 604718"/>
              <a:gd name="connsiteY0" fmla="*/ 208330 h 382112"/>
              <a:gd name="connsiteX1" fmla="*/ 156180 w 604718"/>
              <a:gd name="connsiteY1" fmla="*/ 208330 h 382112"/>
              <a:gd name="connsiteX2" fmla="*/ 261642 w 604718"/>
              <a:gd name="connsiteY2" fmla="*/ 248878 h 382112"/>
              <a:gd name="connsiteX3" fmla="*/ 298947 w 604718"/>
              <a:gd name="connsiteY3" fmla="*/ 255007 h 382112"/>
              <a:gd name="connsiteX4" fmla="*/ 340187 w 604718"/>
              <a:gd name="connsiteY4" fmla="*/ 247621 h 382112"/>
              <a:gd name="connsiteX5" fmla="*/ 433687 w 604718"/>
              <a:gd name="connsiteY5" fmla="*/ 208330 h 382112"/>
              <a:gd name="connsiteX6" fmla="*/ 490825 w 604718"/>
              <a:gd name="connsiteY6" fmla="*/ 208330 h 382112"/>
              <a:gd name="connsiteX7" fmla="*/ 490825 w 604718"/>
              <a:gd name="connsiteY7" fmla="*/ 271509 h 382112"/>
              <a:gd name="connsiteX8" fmla="*/ 458400 w 604718"/>
              <a:gd name="connsiteY8" fmla="*/ 320701 h 382112"/>
              <a:gd name="connsiteX9" fmla="*/ 329326 w 604718"/>
              <a:gd name="connsiteY9" fmla="*/ 376337 h 382112"/>
              <a:gd name="connsiteX10" fmla="*/ 264632 w 604718"/>
              <a:gd name="connsiteY10" fmla="*/ 376337 h 382112"/>
              <a:gd name="connsiteX11" fmla="*/ 136819 w 604718"/>
              <a:gd name="connsiteY11" fmla="*/ 320701 h 382112"/>
              <a:gd name="connsiteX12" fmla="*/ 104550 w 604718"/>
              <a:gd name="connsiteY12" fmla="*/ 271509 h 382112"/>
              <a:gd name="connsiteX13" fmla="*/ 300973 w 604718"/>
              <a:gd name="connsiteY13" fmla="*/ 5 h 382112"/>
              <a:gd name="connsiteX14" fmla="*/ 334162 w 604718"/>
              <a:gd name="connsiteY14" fmla="*/ 4701 h 382112"/>
              <a:gd name="connsiteX15" fmla="*/ 581267 w 604718"/>
              <a:gd name="connsiteY15" fmla="*/ 92552 h 382112"/>
              <a:gd name="connsiteX16" fmla="*/ 588822 w 604718"/>
              <a:gd name="connsiteY16" fmla="*/ 114398 h 382112"/>
              <a:gd name="connsiteX17" fmla="*/ 589136 w 604718"/>
              <a:gd name="connsiteY17" fmla="*/ 114398 h 382112"/>
              <a:gd name="connsiteX18" fmla="*/ 589136 w 604718"/>
              <a:gd name="connsiteY18" fmla="*/ 270771 h 382112"/>
              <a:gd name="connsiteX19" fmla="*/ 604718 w 604718"/>
              <a:gd name="connsiteY19" fmla="*/ 321376 h 382112"/>
              <a:gd name="connsiteX20" fmla="*/ 561278 w 604718"/>
              <a:gd name="connsiteY20" fmla="*/ 321376 h 382112"/>
              <a:gd name="connsiteX21" fmla="*/ 576388 w 604718"/>
              <a:gd name="connsiteY21" fmla="*/ 271242 h 382112"/>
              <a:gd name="connsiteX22" fmla="*/ 576388 w 604718"/>
              <a:gd name="connsiteY22" fmla="*/ 120370 h 382112"/>
              <a:gd name="connsiteX23" fmla="*/ 333376 w 604718"/>
              <a:gd name="connsiteY23" fmla="*/ 222680 h 382112"/>
              <a:gd name="connsiteX24" fmla="*/ 268058 w 604718"/>
              <a:gd name="connsiteY24" fmla="*/ 223780 h 382112"/>
              <a:gd name="connsiteX25" fmla="*/ 13556 w 604718"/>
              <a:gd name="connsiteY25" fmla="*/ 125870 h 382112"/>
              <a:gd name="connsiteX26" fmla="*/ 13714 w 604718"/>
              <a:gd name="connsiteY26" fmla="*/ 100882 h 382112"/>
              <a:gd name="connsiteX27" fmla="*/ 267901 w 604718"/>
              <a:gd name="connsiteY27" fmla="*/ 5329 h 382112"/>
              <a:gd name="connsiteX28" fmla="*/ 300973 w 604718"/>
              <a:gd name="connsiteY28" fmla="*/ 5 h 38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4718" h="382112">
                <a:moveTo>
                  <a:pt x="104550" y="208330"/>
                </a:moveTo>
                <a:lnTo>
                  <a:pt x="156180" y="208330"/>
                </a:lnTo>
                <a:lnTo>
                  <a:pt x="261642" y="248878"/>
                </a:lnTo>
                <a:cubicBezTo>
                  <a:pt x="274864" y="253907"/>
                  <a:pt x="289188" y="255007"/>
                  <a:pt x="298947" y="255007"/>
                </a:cubicBezTo>
                <a:cubicBezTo>
                  <a:pt x="314373" y="255007"/>
                  <a:pt x="329012" y="252493"/>
                  <a:pt x="340187" y="247621"/>
                </a:cubicBezTo>
                <a:lnTo>
                  <a:pt x="433687" y="208330"/>
                </a:lnTo>
                <a:lnTo>
                  <a:pt x="490825" y="208330"/>
                </a:lnTo>
                <a:lnTo>
                  <a:pt x="490825" y="271509"/>
                </a:lnTo>
                <a:cubicBezTo>
                  <a:pt x="490825" y="290998"/>
                  <a:pt x="476344" y="313000"/>
                  <a:pt x="458400" y="320701"/>
                </a:cubicBezTo>
                <a:lnTo>
                  <a:pt x="329326" y="376337"/>
                </a:lnTo>
                <a:cubicBezTo>
                  <a:pt x="311382" y="384038"/>
                  <a:pt x="282419" y="384038"/>
                  <a:pt x="264632" y="376337"/>
                </a:cubicBezTo>
                <a:lnTo>
                  <a:pt x="136819" y="320701"/>
                </a:lnTo>
                <a:cubicBezTo>
                  <a:pt x="119032" y="313000"/>
                  <a:pt x="104550" y="290998"/>
                  <a:pt x="104550" y="271509"/>
                </a:cubicBezTo>
                <a:close/>
                <a:moveTo>
                  <a:pt x="300973" y="5"/>
                </a:moveTo>
                <a:cubicBezTo>
                  <a:pt x="312954" y="-93"/>
                  <a:pt x="324955" y="1479"/>
                  <a:pt x="334162" y="4701"/>
                </a:cubicBezTo>
                <a:lnTo>
                  <a:pt x="581267" y="92552"/>
                </a:lnTo>
                <a:cubicBezTo>
                  <a:pt x="596849" y="98053"/>
                  <a:pt x="599210" y="107168"/>
                  <a:pt x="588822" y="114398"/>
                </a:cubicBezTo>
                <a:lnTo>
                  <a:pt x="589136" y="114398"/>
                </a:lnTo>
                <a:lnTo>
                  <a:pt x="589136" y="270771"/>
                </a:lnTo>
                <a:lnTo>
                  <a:pt x="604718" y="321376"/>
                </a:lnTo>
                <a:lnTo>
                  <a:pt x="561278" y="321376"/>
                </a:lnTo>
                <a:lnTo>
                  <a:pt x="576388" y="271242"/>
                </a:lnTo>
                <a:lnTo>
                  <a:pt x="576388" y="120370"/>
                </a:lnTo>
                <a:lnTo>
                  <a:pt x="333376" y="222680"/>
                </a:lnTo>
                <a:cubicBezTo>
                  <a:pt x="315433" y="230224"/>
                  <a:pt x="286158" y="230695"/>
                  <a:pt x="268058" y="223780"/>
                </a:cubicBezTo>
                <a:lnTo>
                  <a:pt x="13556" y="125870"/>
                </a:lnTo>
                <a:cubicBezTo>
                  <a:pt x="-4544" y="118798"/>
                  <a:pt x="-4544" y="107640"/>
                  <a:pt x="13714" y="100882"/>
                </a:cubicBezTo>
                <a:lnTo>
                  <a:pt x="267901" y="5329"/>
                </a:lnTo>
                <a:cubicBezTo>
                  <a:pt x="277030" y="1872"/>
                  <a:pt x="288991" y="104"/>
                  <a:pt x="300973" y="5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25400">
            <a:noFill/>
          </a:ln>
        </p:spPr>
      </p:sp>
      <p:sp>
        <p:nvSpPr>
          <p:cNvPr id="20" name="文本框 19"/>
          <p:cNvSpPr txBox="1"/>
          <p:nvPr/>
        </p:nvSpPr>
        <p:spPr>
          <a:xfrm>
            <a:off x="0" y="2257425"/>
            <a:ext cx="12172315" cy="1354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fontAlgn="base"/>
            <a:r>
              <a:rPr lang="zh-CN" altLang="en-US" sz="5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基于MRI影像组学动态变化预测</a:t>
            </a:r>
            <a:endParaRPr lang="zh-CN" altLang="en-US" sz="5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/>
            <a:r>
              <a:rPr lang="zh-CN" altLang="en-US" sz="5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HCC免疫治疗后病理完全缓解</a:t>
            </a:r>
            <a:endParaRPr lang="zh-CN" altLang="en-US" sz="5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788670" y="5680075"/>
            <a:ext cx="105791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6917055" y="1300480"/>
            <a:ext cx="4497070" cy="444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1"/>
            </p:custDataLst>
          </p:nvPr>
        </p:nvSpPr>
        <p:spPr>
          <a:xfrm>
            <a:off x="6529705" y="4569460"/>
            <a:ext cx="24015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2026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年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月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13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日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2"/>
            </p:custDataLst>
          </p:nvPr>
        </p:nvSpPr>
        <p:spPr>
          <a:xfrm>
            <a:off x="3556000" y="4569460"/>
            <a:ext cx="23622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汇报人：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蒋铠屹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7" name="菱形 26"/>
          <p:cNvSpPr/>
          <p:nvPr>
            <p:custDataLst>
              <p:tags r:id="rId3"/>
            </p:custDataLst>
          </p:nvPr>
        </p:nvSpPr>
        <p:spPr>
          <a:xfrm>
            <a:off x="3171190" y="4563745"/>
            <a:ext cx="466090" cy="466090"/>
          </a:xfrm>
          <a:prstGeom prst="diamond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菱形 27"/>
          <p:cNvSpPr/>
          <p:nvPr>
            <p:custDataLst>
              <p:tags r:id="rId4"/>
            </p:custDataLst>
          </p:nvPr>
        </p:nvSpPr>
        <p:spPr>
          <a:xfrm>
            <a:off x="6132830" y="4563745"/>
            <a:ext cx="466090" cy="466090"/>
          </a:xfrm>
          <a:prstGeom prst="diamond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1976755"/>
            <a:ext cx="278130" cy="29495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913870" y="1953895"/>
            <a:ext cx="278130" cy="29495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788670" y="1296035"/>
            <a:ext cx="4497070" cy="444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788670" y="5680075"/>
            <a:ext cx="105791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6917055" y="1300480"/>
            <a:ext cx="4497070" cy="444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415280" y="918845"/>
            <a:ext cx="132588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sz="4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zh-CN" altLang="zh-CN" sz="4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625600" y="2618740"/>
            <a:ext cx="3711575" cy="683895"/>
            <a:chOff x="9602" y="2002"/>
            <a:chExt cx="5845" cy="1077"/>
          </a:xfrm>
        </p:grpSpPr>
        <p:sp>
          <p:nvSpPr>
            <p:cNvPr id="14" name="椭圆 13"/>
            <p:cNvSpPr/>
            <p:nvPr>
              <p:custDataLst>
                <p:tags r:id="rId2"/>
              </p:custDataLst>
            </p:nvPr>
          </p:nvSpPr>
          <p:spPr>
            <a:xfrm>
              <a:off x="9602" y="2002"/>
              <a:ext cx="1052" cy="1077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>
              <p:custDataLst>
                <p:tags r:id="rId3"/>
              </p:custDataLst>
            </p:nvPr>
          </p:nvSpPr>
          <p:spPr>
            <a:xfrm>
              <a:off x="9749" y="2220"/>
              <a:ext cx="75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b="1">
                  <a:solidFill>
                    <a:schemeClr val="bg1"/>
                  </a:solidFill>
                  <a:latin typeface="Arial Unicode MS" panose="020B0604020202020204" charset="-122"/>
                  <a:ea typeface="Arial Unicode MS" panose="020B0604020202020204" charset="-122"/>
                </a:rPr>
                <a:t>01</a:t>
              </a:r>
              <a:endParaRPr lang="en-US" altLang="zh-CN" sz="2000" b="1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4"/>
              </p:custDataLst>
            </p:nvPr>
          </p:nvSpPr>
          <p:spPr>
            <a:xfrm>
              <a:off x="10923" y="2220"/>
              <a:ext cx="452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sz="2800">
                  <a:solidFill>
                    <a:schemeClr val="accent1">
                      <a:lumMod val="5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研究</a:t>
              </a:r>
              <a:r>
                <a:rPr lang="zh-CN" altLang="en-US" sz="2800">
                  <a:solidFill>
                    <a:schemeClr val="accent1">
                      <a:lumMod val="5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背景</a:t>
              </a:r>
              <a:endPara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5"/>
            </p:custDataLst>
          </p:nvPr>
        </p:nvGrpSpPr>
        <p:grpSpPr>
          <a:xfrm>
            <a:off x="6828790" y="2614295"/>
            <a:ext cx="3711575" cy="683895"/>
            <a:chOff x="9602" y="2002"/>
            <a:chExt cx="5845" cy="1077"/>
          </a:xfrm>
        </p:grpSpPr>
        <p:sp>
          <p:nvSpPr>
            <p:cNvPr id="4" name="椭圆 3"/>
            <p:cNvSpPr/>
            <p:nvPr>
              <p:custDataLst>
                <p:tags r:id="rId6"/>
              </p:custDataLst>
            </p:nvPr>
          </p:nvSpPr>
          <p:spPr>
            <a:xfrm>
              <a:off x="9602" y="2002"/>
              <a:ext cx="1052" cy="1077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9749" y="2220"/>
              <a:ext cx="75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b="1">
                  <a:solidFill>
                    <a:schemeClr val="bg1"/>
                  </a:solidFill>
                  <a:latin typeface="Arial Unicode MS" panose="020B0604020202020204" charset="-122"/>
                  <a:ea typeface="Arial Unicode MS" panose="020B0604020202020204" charset="-122"/>
                </a:rPr>
                <a:t>02</a:t>
              </a:r>
              <a:endParaRPr lang="en-US" altLang="zh-CN" sz="2000" b="1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8"/>
              </p:custDataLst>
            </p:nvPr>
          </p:nvSpPr>
          <p:spPr>
            <a:xfrm>
              <a:off x="10923" y="2220"/>
              <a:ext cx="452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sz="2800">
                  <a:solidFill>
                    <a:schemeClr val="accent1">
                      <a:lumMod val="5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研究材料与</a:t>
              </a:r>
              <a:r>
                <a:rPr lang="zh-CN" altLang="en-US" sz="2800">
                  <a:solidFill>
                    <a:schemeClr val="accent1">
                      <a:lumMod val="5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方法</a:t>
              </a:r>
              <a:endPara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组合 6"/>
          <p:cNvGrpSpPr/>
          <p:nvPr>
            <p:custDataLst>
              <p:tags r:id="rId9"/>
            </p:custDataLst>
          </p:nvPr>
        </p:nvGrpSpPr>
        <p:grpSpPr>
          <a:xfrm>
            <a:off x="1625600" y="3967480"/>
            <a:ext cx="3711575" cy="683895"/>
            <a:chOff x="9602" y="2002"/>
            <a:chExt cx="5845" cy="1077"/>
          </a:xfrm>
        </p:grpSpPr>
        <p:sp>
          <p:nvSpPr>
            <p:cNvPr id="8" name="椭圆 7"/>
            <p:cNvSpPr/>
            <p:nvPr>
              <p:custDataLst>
                <p:tags r:id="rId10"/>
              </p:custDataLst>
            </p:nvPr>
          </p:nvSpPr>
          <p:spPr>
            <a:xfrm>
              <a:off x="9602" y="2002"/>
              <a:ext cx="1052" cy="1077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>
              <p:custDataLst>
                <p:tags r:id="rId11"/>
              </p:custDataLst>
            </p:nvPr>
          </p:nvSpPr>
          <p:spPr>
            <a:xfrm>
              <a:off x="9749" y="2220"/>
              <a:ext cx="75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b="1">
                  <a:solidFill>
                    <a:schemeClr val="bg1"/>
                  </a:solidFill>
                  <a:latin typeface="Arial Unicode MS" panose="020B0604020202020204" charset="-122"/>
                  <a:ea typeface="Arial Unicode MS" panose="020B0604020202020204" charset="-122"/>
                </a:rPr>
                <a:t>03</a:t>
              </a:r>
              <a:endParaRPr lang="en-US" altLang="zh-CN" sz="2000" b="1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12"/>
              </p:custDataLst>
            </p:nvPr>
          </p:nvSpPr>
          <p:spPr>
            <a:xfrm>
              <a:off x="10923" y="2220"/>
              <a:ext cx="452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sz="2800">
                  <a:solidFill>
                    <a:schemeClr val="accent1">
                      <a:lumMod val="5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研究结果</a:t>
              </a:r>
              <a:endPara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13"/>
            </p:custDataLst>
          </p:nvPr>
        </p:nvGrpSpPr>
        <p:grpSpPr>
          <a:xfrm>
            <a:off x="6828790" y="3994150"/>
            <a:ext cx="3711575" cy="683895"/>
            <a:chOff x="9602" y="2002"/>
            <a:chExt cx="5845" cy="1077"/>
          </a:xfrm>
        </p:grpSpPr>
        <p:sp>
          <p:nvSpPr>
            <p:cNvPr id="12" name="椭圆 11"/>
            <p:cNvSpPr/>
            <p:nvPr>
              <p:custDataLst>
                <p:tags r:id="rId14"/>
              </p:custDataLst>
            </p:nvPr>
          </p:nvSpPr>
          <p:spPr>
            <a:xfrm>
              <a:off x="9602" y="2002"/>
              <a:ext cx="1052" cy="1077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>
              <p:custDataLst>
                <p:tags r:id="rId15"/>
              </p:custDataLst>
            </p:nvPr>
          </p:nvSpPr>
          <p:spPr>
            <a:xfrm>
              <a:off x="9749" y="2220"/>
              <a:ext cx="75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b="1">
                  <a:solidFill>
                    <a:schemeClr val="bg1"/>
                  </a:solidFill>
                  <a:latin typeface="Arial Unicode MS" panose="020B0604020202020204" charset="-122"/>
                  <a:ea typeface="Arial Unicode MS" panose="020B0604020202020204" charset="-122"/>
                </a:rPr>
                <a:t>04</a:t>
              </a:r>
              <a:endParaRPr lang="en-US" altLang="zh-CN" sz="2000" b="1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16"/>
              </p:custDataLst>
            </p:nvPr>
          </p:nvSpPr>
          <p:spPr>
            <a:xfrm>
              <a:off x="10923" y="2220"/>
              <a:ext cx="452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sz="2800">
                  <a:solidFill>
                    <a:schemeClr val="accent1">
                      <a:lumMod val="5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讨论</a:t>
              </a:r>
              <a:endPara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custDataLst>
      <p:tags r:id="rId1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1976755"/>
            <a:ext cx="278130" cy="29495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913870" y="1953895"/>
            <a:ext cx="278130" cy="29495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788670" y="1296035"/>
            <a:ext cx="4497070" cy="444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788670" y="5680075"/>
            <a:ext cx="105791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6917055" y="1300480"/>
            <a:ext cx="4497070" cy="444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312863" y="753663"/>
            <a:ext cx="5565931" cy="3136170"/>
            <a:chOff x="10262" y="679"/>
            <a:chExt cx="5110" cy="4104"/>
          </a:xfrm>
        </p:grpSpPr>
        <p:sp>
          <p:nvSpPr>
            <p:cNvPr id="20" name="椭圆 19"/>
            <p:cNvSpPr/>
            <p:nvPr/>
          </p:nvSpPr>
          <p:spPr>
            <a:xfrm>
              <a:off x="12291" y="679"/>
              <a:ext cx="1052" cy="1425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438" y="929"/>
              <a:ext cx="757" cy="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Arial Unicode MS" panose="020B0604020202020204" charset="-122"/>
                  <a:ea typeface="Arial Unicode MS" panose="020B0604020202020204" charset="-122"/>
                </a:rPr>
                <a:t>01</a:t>
              </a:r>
              <a:endParaRPr lang="en-US" altLang="zh-CN" sz="4000" b="1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262" y="3576"/>
              <a:ext cx="5110" cy="1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sz="5400">
                  <a:solidFill>
                    <a:schemeClr val="accent1">
                      <a:lumMod val="5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研究背景</a:t>
              </a:r>
              <a:endParaRPr lang="zh-CN" altLang="en-US" sz="5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2932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背景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1"/>
            </p:custDataLst>
          </p:nvPr>
        </p:nvSpPr>
        <p:spPr>
          <a:xfrm>
            <a:off x="3474836" y="1730123"/>
            <a:ext cx="761040" cy="376237"/>
          </a:xfrm>
          <a:custGeom>
            <a:avLst/>
            <a:gdLst>
              <a:gd name="connsiteX0" fmla="*/ 0 w 761040"/>
              <a:gd name="connsiteY0" fmla="*/ 0 h 376237"/>
              <a:gd name="connsiteX1" fmla="*/ 171932 w 761040"/>
              <a:gd name="connsiteY1" fmla="*/ 0 h 376237"/>
              <a:gd name="connsiteX2" fmla="*/ 187438 w 761040"/>
              <a:gd name="connsiteY2" fmla="*/ 76803 h 376237"/>
              <a:gd name="connsiteX3" fmla="*/ 380520 w 761040"/>
              <a:gd name="connsiteY3" fmla="*/ 204787 h 376237"/>
              <a:gd name="connsiteX4" fmla="*/ 573603 w 761040"/>
              <a:gd name="connsiteY4" fmla="*/ 76803 h 376237"/>
              <a:gd name="connsiteX5" fmla="*/ 589109 w 761040"/>
              <a:gd name="connsiteY5" fmla="*/ 0 h 376237"/>
              <a:gd name="connsiteX6" fmla="*/ 761040 w 761040"/>
              <a:gd name="connsiteY6" fmla="*/ 0 h 376237"/>
              <a:gd name="connsiteX7" fmla="*/ 753780 w 761040"/>
              <a:gd name="connsiteY7" fmla="*/ 72022 h 376237"/>
              <a:gd name="connsiteX8" fmla="*/ 380520 w 761040"/>
              <a:gd name="connsiteY8" fmla="*/ 376237 h 376237"/>
              <a:gd name="connsiteX9" fmla="*/ 7261 w 761040"/>
              <a:gd name="connsiteY9" fmla="*/ 72022 h 376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61040" h="376237">
                <a:moveTo>
                  <a:pt x="0" y="0"/>
                </a:moveTo>
                <a:lnTo>
                  <a:pt x="171932" y="0"/>
                </a:lnTo>
                <a:lnTo>
                  <a:pt x="187438" y="76803"/>
                </a:lnTo>
                <a:cubicBezTo>
                  <a:pt x="219249" y="152014"/>
                  <a:pt x="293722" y="204787"/>
                  <a:pt x="380520" y="204787"/>
                </a:cubicBezTo>
                <a:cubicBezTo>
                  <a:pt x="467318" y="204787"/>
                  <a:pt x="541791" y="152014"/>
                  <a:pt x="573603" y="76803"/>
                </a:cubicBezTo>
                <a:lnTo>
                  <a:pt x="589109" y="0"/>
                </a:lnTo>
                <a:lnTo>
                  <a:pt x="761040" y="0"/>
                </a:lnTo>
                <a:lnTo>
                  <a:pt x="753780" y="72022"/>
                </a:lnTo>
                <a:cubicBezTo>
                  <a:pt x="718253" y="245637"/>
                  <a:pt x="564638" y="376237"/>
                  <a:pt x="380520" y="376237"/>
                </a:cubicBezTo>
                <a:cubicBezTo>
                  <a:pt x="196403" y="376237"/>
                  <a:pt x="42788" y="245637"/>
                  <a:pt x="7261" y="72022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504000" numCol="1" spcCol="0" rtlCol="0" fromWordArt="0" anchor="ctr" anchorCtr="0" forceAA="0" compatLnSpc="1">
            <a:normAutofit fontScale="25000" lnSpcReduction="20000"/>
          </a:bodyPr>
          <a:p>
            <a:pPr algn="ctr">
              <a:lnSpc>
                <a:spcPct val="130000"/>
              </a:lnSpc>
            </a:pPr>
            <a:r>
              <a:rPr lang="en-US" altLang="zh-CN" sz="3200" b="1" dirty="0">
                <a:solidFill>
                  <a:srgbClr val="FFCA08"/>
                </a:solidFill>
                <a:sym typeface="Arial" panose="020B0604020202020204" pitchFamily="34" charset="0"/>
              </a:rPr>
              <a:t>A</a:t>
            </a:r>
            <a:endParaRPr lang="zh-CN" altLang="en-US" sz="3200" b="1" dirty="0" err="1">
              <a:solidFill>
                <a:srgbClr val="FFCA08"/>
              </a:solidFill>
              <a:sym typeface="Arial" panose="020B0604020202020204" pitchFamily="34" charset="0"/>
            </a:endParaRPr>
          </a:p>
        </p:txBody>
      </p:sp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>
            <a:off x="3474836" y="2880743"/>
            <a:ext cx="761040" cy="376237"/>
          </a:xfrm>
          <a:custGeom>
            <a:avLst/>
            <a:gdLst>
              <a:gd name="connsiteX0" fmla="*/ 0 w 761040"/>
              <a:gd name="connsiteY0" fmla="*/ 0 h 376237"/>
              <a:gd name="connsiteX1" fmla="*/ 171932 w 761040"/>
              <a:gd name="connsiteY1" fmla="*/ 0 h 376237"/>
              <a:gd name="connsiteX2" fmla="*/ 187438 w 761040"/>
              <a:gd name="connsiteY2" fmla="*/ 76803 h 376237"/>
              <a:gd name="connsiteX3" fmla="*/ 380520 w 761040"/>
              <a:gd name="connsiteY3" fmla="*/ 204787 h 376237"/>
              <a:gd name="connsiteX4" fmla="*/ 573603 w 761040"/>
              <a:gd name="connsiteY4" fmla="*/ 76803 h 376237"/>
              <a:gd name="connsiteX5" fmla="*/ 589109 w 761040"/>
              <a:gd name="connsiteY5" fmla="*/ 0 h 376237"/>
              <a:gd name="connsiteX6" fmla="*/ 761040 w 761040"/>
              <a:gd name="connsiteY6" fmla="*/ 0 h 376237"/>
              <a:gd name="connsiteX7" fmla="*/ 753780 w 761040"/>
              <a:gd name="connsiteY7" fmla="*/ 72022 h 376237"/>
              <a:gd name="connsiteX8" fmla="*/ 380520 w 761040"/>
              <a:gd name="connsiteY8" fmla="*/ 376237 h 376237"/>
              <a:gd name="connsiteX9" fmla="*/ 7261 w 761040"/>
              <a:gd name="connsiteY9" fmla="*/ 72022 h 376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61040" h="376237">
                <a:moveTo>
                  <a:pt x="0" y="0"/>
                </a:moveTo>
                <a:lnTo>
                  <a:pt x="171932" y="0"/>
                </a:lnTo>
                <a:lnTo>
                  <a:pt x="187438" y="76803"/>
                </a:lnTo>
                <a:cubicBezTo>
                  <a:pt x="219249" y="152014"/>
                  <a:pt x="293722" y="204787"/>
                  <a:pt x="380520" y="204787"/>
                </a:cubicBezTo>
                <a:cubicBezTo>
                  <a:pt x="467318" y="204787"/>
                  <a:pt x="541791" y="152014"/>
                  <a:pt x="573603" y="76803"/>
                </a:cubicBezTo>
                <a:lnTo>
                  <a:pt x="589109" y="0"/>
                </a:lnTo>
                <a:lnTo>
                  <a:pt x="761040" y="0"/>
                </a:lnTo>
                <a:lnTo>
                  <a:pt x="753780" y="72022"/>
                </a:lnTo>
                <a:cubicBezTo>
                  <a:pt x="718253" y="245637"/>
                  <a:pt x="564638" y="376237"/>
                  <a:pt x="380520" y="376237"/>
                </a:cubicBezTo>
                <a:cubicBezTo>
                  <a:pt x="196403" y="376237"/>
                  <a:pt x="42788" y="245637"/>
                  <a:pt x="7261" y="72022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504000" numCol="1" spcCol="0" rtlCol="0" fromWordArt="0" anchor="ctr" anchorCtr="0" forceAA="0" compatLnSpc="1">
            <a:normAutofit fontScale="25000" lnSpcReduction="20000"/>
          </a:bodyPr>
          <a:p>
            <a:pPr algn="ctr">
              <a:lnSpc>
                <a:spcPct val="130000"/>
              </a:lnSpc>
            </a:pPr>
            <a:r>
              <a:rPr lang="en-US" altLang="zh-CN" sz="3200" b="1" dirty="0">
                <a:solidFill>
                  <a:srgbClr val="F8931D"/>
                </a:solidFill>
                <a:sym typeface="Arial" panose="020B0604020202020204" pitchFamily="34" charset="0"/>
              </a:rPr>
              <a:t>B</a:t>
            </a:r>
            <a:endParaRPr lang="zh-CN" altLang="en-US" sz="3200" b="1" dirty="0" err="1">
              <a:solidFill>
                <a:srgbClr val="F8931D"/>
              </a:solidFill>
              <a:sym typeface="Arial" panose="020B0604020202020204" pitchFamily="34" charset="0"/>
            </a:endParaRPr>
          </a:p>
        </p:txBody>
      </p:sp>
      <p:sp>
        <p:nvSpPr>
          <p:cNvPr id="3" name="任意多边形 2"/>
          <p:cNvSpPr/>
          <p:nvPr>
            <p:custDataLst>
              <p:tags r:id="rId3"/>
            </p:custDataLst>
          </p:nvPr>
        </p:nvSpPr>
        <p:spPr>
          <a:xfrm>
            <a:off x="3474836" y="4031363"/>
            <a:ext cx="761040" cy="376237"/>
          </a:xfrm>
          <a:custGeom>
            <a:avLst/>
            <a:gdLst>
              <a:gd name="connsiteX0" fmla="*/ 0 w 761040"/>
              <a:gd name="connsiteY0" fmla="*/ 0 h 376237"/>
              <a:gd name="connsiteX1" fmla="*/ 171932 w 761040"/>
              <a:gd name="connsiteY1" fmla="*/ 0 h 376237"/>
              <a:gd name="connsiteX2" fmla="*/ 187438 w 761040"/>
              <a:gd name="connsiteY2" fmla="*/ 76803 h 376237"/>
              <a:gd name="connsiteX3" fmla="*/ 380520 w 761040"/>
              <a:gd name="connsiteY3" fmla="*/ 204787 h 376237"/>
              <a:gd name="connsiteX4" fmla="*/ 573603 w 761040"/>
              <a:gd name="connsiteY4" fmla="*/ 76803 h 376237"/>
              <a:gd name="connsiteX5" fmla="*/ 589109 w 761040"/>
              <a:gd name="connsiteY5" fmla="*/ 0 h 376237"/>
              <a:gd name="connsiteX6" fmla="*/ 761040 w 761040"/>
              <a:gd name="connsiteY6" fmla="*/ 0 h 376237"/>
              <a:gd name="connsiteX7" fmla="*/ 753780 w 761040"/>
              <a:gd name="connsiteY7" fmla="*/ 72022 h 376237"/>
              <a:gd name="connsiteX8" fmla="*/ 380520 w 761040"/>
              <a:gd name="connsiteY8" fmla="*/ 376237 h 376237"/>
              <a:gd name="connsiteX9" fmla="*/ 7261 w 761040"/>
              <a:gd name="connsiteY9" fmla="*/ 72022 h 376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61040" h="376237">
                <a:moveTo>
                  <a:pt x="0" y="0"/>
                </a:moveTo>
                <a:lnTo>
                  <a:pt x="171932" y="0"/>
                </a:lnTo>
                <a:lnTo>
                  <a:pt x="187438" y="76803"/>
                </a:lnTo>
                <a:cubicBezTo>
                  <a:pt x="219249" y="152014"/>
                  <a:pt x="293722" y="204787"/>
                  <a:pt x="380520" y="204787"/>
                </a:cubicBezTo>
                <a:cubicBezTo>
                  <a:pt x="467318" y="204787"/>
                  <a:pt x="541791" y="152014"/>
                  <a:pt x="573603" y="76803"/>
                </a:cubicBezTo>
                <a:lnTo>
                  <a:pt x="589109" y="0"/>
                </a:lnTo>
                <a:lnTo>
                  <a:pt x="761040" y="0"/>
                </a:lnTo>
                <a:lnTo>
                  <a:pt x="753780" y="72022"/>
                </a:lnTo>
                <a:cubicBezTo>
                  <a:pt x="718253" y="245637"/>
                  <a:pt x="564638" y="376237"/>
                  <a:pt x="380520" y="376237"/>
                </a:cubicBezTo>
                <a:cubicBezTo>
                  <a:pt x="196403" y="376237"/>
                  <a:pt x="42788" y="245637"/>
                  <a:pt x="7261" y="72022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504000" numCol="1" spcCol="0" rtlCol="0" fromWordArt="0" anchor="ctr" anchorCtr="0" forceAA="0" compatLnSpc="1">
            <a:normAutofit fontScale="25000" lnSpcReduction="20000"/>
          </a:bodyPr>
          <a:p>
            <a:pPr algn="ctr">
              <a:lnSpc>
                <a:spcPct val="130000"/>
              </a:lnSpc>
            </a:pPr>
            <a:r>
              <a:rPr lang="en-US" altLang="zh-CN" sz="3200" b="1" dirty="0">
                <a:solidFill>
                  <a:srgbClr val="CE8D3E"/>
                </a:solidFill>
                <a:sym typeface="Arial" panose="020B0604020202020204" pitchFamily="34" charset="0"/>
              </a:rPr>
              <a:t>C</a:t>
            </a:r>
            <a:endParaRPr lang="zh-CN" altLang="en-US" sz="3200" b="1" dirty="0" err="1">
              <a:solidFill>
                <a:srgbClr val="CE8D3E"/>
              </a:solidFill>
              <a:sym typeface="Arial" panose="020B0604020202020204" pitchFamily="34" charset="0"/>
            </a:endParaRPr>
          </a:p>
        </p:txBody>
      </p:sp>
      <p:sp>
        <p:nvSpPr>
          <p:cNvPr id="15" name="任意多边形 14"/>
          <p:cNvSpPr/>
          <p:nvPr>
            <p:custDataLst>
              <p:tags r:id="rId4"/>
            </p:custDataLst>
          </p:nvPr>
        </p:nvSpPr>
        <p:spPr>
          <a:xfrm>
            <a:off x="3474836" y="5181983"/>
            <a:ext cx="761040" cy="376237"/>
          </a:xfrm>
          <a:custGeom>
            <a:avLst/>
            <a:gdLst>
              <a:gd name="connsiteX0" fmla="*/ 0 w 761040"/>
              <a:gd name="connsiteY0" fmla="*/ 0 h 376237"/>
              <a:gd name="connsiteX1" fmla="*/ 171932 w 761040"/>
              <a:gd name="connsiteY1" fmla="*/ 0 h 376237"/>
              <a:gd name="connsiteX2" fmla="*/ 187438 w 761040"/>
              <a:gd name="connsiteY2" fmla="*/ 76803 h 376237"/>
              <a:gd name="connsiteX3" fmla="*/ 380520 w 761040"/>
              <a:gd name="connsiteY3" fmla="*/ 204787 h 376237"/>
              <a:gd name="connsiteX4" fmla="*/ 573603 w 761040"/>
              <a:gd name="connsiteY4" fmla="*/ 76803 h 376237"/>
              <a:gd name="connsiteX5" fmla="*/ 589109 w 761040"/>
              <a:gd name="connsiteY5" fmla="*/ 0 h 376237"/>
              <a:gd name="connsiteX6" fmla="*/ 761040 w 761040"/>
              <a:gd name="connsiteY6" fmla="*/ 0 h 376237"/>
              <a:gd name="connsiteX7" fmla="*/ 753780 w 761040"/>
              <a:gd name="connsiteY7" fmla="*/ 72022 h 376237"/>
              <a:gd name="connsiteX8" fmla="*/ 380520 w 761040"/>
              <a:gd name="connsiteY8" fmla="*/ 376237 h 376237"/>
              <a:gd name="connsiteX9" fmla="*/ 7261 w 761040"/>
              <a:gd name="connsiteY9" fmla="*/ 72022 h 376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61040" h="376237">
                <a:moveTo>
                  <a:pt x="0" y="0"/>
                </a:moveTo>
                <a:lnTo>
                  <a:pt x="171932" y="0"/>
                </a:lnTo>
                <a:lnTo>
                  <a:pt x="187438" y="76803"/>
                </a:lnTo>
                <a:cubicBezTo>
                  <a:pt x="219249" y="152014"/>
                  <a:pt x="293722" y="204787"/>
                  <a:pt x="380520" y="204787"/>
                </a:cubicBezTo>
                <a:cubicBezTo>
                  <a:pt x="467318" y="204787"/>
                  <a:pt x="541791" y="152014"/>
                  <a:pt x="573603" y="76803"/>
                </a:cubicBezTo>
                <a:lnTo>
                  <a:pt x="589109" y="0"/>
                </a:lnTo>
                <a:lnTo>
                  <a:pt x="761040" y="0"/>
                </a:lnTo>
                <a:lnTo>
                  <a:pt x="753780" y="72022"/>
                </a:lnTo>
                <a:cubicBezTo>
                  <a:pt x="718253" y="245637"/>
                  <a:pt x="564638" y="376237"/>
                  <a:pt x="380520" y="376237"/>
                </a:cubicBezTo>
                <a:cubicBezTo>
                  <a:pt x="196403" y="376237"/>
                  <a:pt x="42788" y="245637"/>
                  <a:pt x="7261" y="72022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504000" numCol="1" spcCol="0" rtlCol="0" fromWordArt="0" anchor="ctr" anchorCtr="0" forceAA="0" compatLnSpc="1">
            <a:normAutofit fontScale="25000" lnSpcReduction="20000"/>
          </a:bodyPr>
          <a:p>
            <a:pPr algn="ctr">
              <a:lnSpc>
                <a:spcPct val="130000"/>
              </a:lnSpc>
            </a:pPr>
            <a:r>
              <a:rPr lang="en-US" altLang="zh-CN" sz="3200" b="1" dirty="0">
                <a:solidFill>
                  <a:srgbClr val="EC7016"/>
                </a:solidFill>
                <a:sym typeface="Arial" panose="020B0604020202020204" pitchFamily="34" charset="0"/>
              </a:rPr>
              <a:t>D</a:t>
            </a:r>
            <a:endParaRPr lang="zh-CN" altLang="en-US" sz="3200" b="1" dirty="0" err="1">
              <a:solidFill>
                <a:srgbClr val="EC7016"/>
              </a:solidFill>
              <a:sym typeface="Arial" panose="020B0604020202020204" pitchFamily="34" charset="0"/>
            </a:endParaRPr>
          </a:p>
        </p:txBody>
      </p:sp>
      <p:sp>
        <p:nvSpPr>
          <p:cNvPr id="118" name="文本框 117"/>
          <p:cNvSpPr txBox="1"/>
          <p:nvPr>
            <p:custDataLst>
              <p:tags r:id="rId5"/>
            </p:custDataLst>
          </p:nvPr>
        </p:nvSpPr>
        <p:spPr>
          <a:xfrm>
            <a:off x="1798955" y="1652270"/>
            <a:ext cx="1699260" cy="488950"/>
          </a:xfrm>
          <a:prstGeom prst="rect">
            <a:avLst/>
          </a:prstGeom>
        </p:spPr>
        <p:txBody>
          <a:bodyPr vert="horz" wrap="none" lIns="90000" tIns="46800" rIns="90000" bIns="0" anchor="b">
            <a:normAutofit/>
          </a:bodyPr>
          <a:p>
            <a:pPr algn="ctr">
              <a:lnSpc>
                <a:spcPct val="120000"/>
              </a:lnSpc>
            </a:pP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疾病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概况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1798955" y="2689860"/>
            <a:ext cx="1699260" cy="488950"/>
          </a:xfrm>
          <a:prstGeom prst="rect">
            <a:avLst/>
          </a:prstGeom>
        </p:spPr>
        <p:txBody>
          <a:bodyPr vert="horz" wrap="none" lIns="90000" tIns="46800" rIns="90000" bIns="0" anchor="b">
            <a:normAutofit/>
          </a:bodyPr>
          <a:p>
            <a:pPr algn="ctr">
              <a:lnSpc>
                <a:spcPct val="120000"/>
              </a:lnSpc>
            </a:pP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治疗进展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798955" y="3840480"/>
            <a:ext cx="1699260" cy="488950"/>
          </a:xfrm>
          <a:prstGeom prst="rect">
            <a:avLst/>
          </a:prstGeom>
        </p:spPr>
        <p:txBody>
          <a:bodyPr vert="horz" wrap="none" lIns="90000" tIns="46800" rIns="90000" bIns="0" anchor="b">
            <a:normAutofit/>
          </a:bodyPr>
          <a:p>
            <a:pPr algn="ctr">
              <a:lnSpc>
                <a:spcPct val="120000"/>
              </a:lnSpc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核心问题</a:t>
            </a:r>
            <a:endParaRPr lang="zh-CN" altLang="en-US" sz="24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1798955" y="4991100"/>
            <a:ext cx="1699260" cy="488950"/>
          </a:xfrm>
          <a:prstGeom prst="rect">
            <a:avLst/>
          </a:prstGeom>
        </p:spPr>
        <p:txBody>
          <a:bodyPr vert="horz" wrap="none" lIns="90000" tIns="46800" rIns="90000" bIns="0" anchor="b">
            <a:normAutofit/>
          </a:bodyPr>
          <a:p>
            <a:pPr algn="ctr">
              <a:lnSpc>
                <a:spcPct val="120000"/>
              </a:lnSpc>
            </a:pP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解决方案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375785" y="1414145"/>
            <a:ext cx="63150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 fontAlgn="auto">
              <a:lnSpc>
                <a:spcPct val="1500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Gill Sans" charset="0"/>
              </a:rPr>
              <a:t>超过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Gill Sans" charset="0"/>
              </a:rPr>
              <a:t>70%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Gill Sans" charset="0"/>
              </a:rPr>
              <a:t>的患者在初诊时已处于中晚期，失去了直接手术切除的机会（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Gill Sans" charset="0"/>
              </a:rPr>
              <a:t>uHCC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Gill Sans" charset="0"/>
              </a:rPr>
              <a:t>）。</a:t>
            </a:r>
            <a:endParaRPr lang="zh-CN" altLang="en-US" b="1">
              <a:solidFill>
                <a:schemeClr val="accent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Gill Sans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75785" y="2327275"/>
            <a:ext cx="631507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 fontAlgn="auto">
              <a:lnSpc>
                <a:spcPct val="150000"/>
              </a:lnSpc>
            </a:pPr>
            <a:r>
              <a:rPr lang="zh-CN" altLang="en-US" sz="1800" b="1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Gill Sans" charset="0"/>
              </a:rPr>
              <a:t>以靶向治疗（如酪氨酸激酶抑制剂）联合免疫治疗（如PD-1/PD-L1抑制剂）为基础，并结合肝动脉化疗栓塞（TACE）或肝动脉灌注化疗（HAIC）等局部治疗手段的转化治疗方案</a:t>
            </a:r>
            <a:r>
              <a:rPr lang="zh-CN" altLang="en-US" sz="1600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Gill Sans" charset="0"/>
              </a:rPr>
              <a:t>。</a:t>
            </a:r>
            <a:endParaRPr lang="zh-CN" altLang="en-US" sz="1600">
              <a:solidFill>
                <a:schemeClr val="accent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Gill Sans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375785" y="3602990"/>
            <a:ext cx="631507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800" b="1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Gill Sans" charset="0"/>
              </a:rPr>
              <a:t>病理学完全缓解（pCR）成为评估转化疗效的核心指标</a:t>
            </a:r>
            <a:endParaRPr lang="zh-CN" altLang="en-US" sz="1800" b="1">
              <a:solidFill>
                <a:schemeClr val="accent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Gill Sans" charset="0"/>
            </a:endParaRPr>
          </a:p>
          <a:p>
            <a:pPr algn="just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800" b="1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Gill Sans" charset="0"/>
              </a:rPr>
              <a:t>pCR的明确诊断目前完全依赖于术后对切除标本的病理学评估，在术前无法获知</a:t>
            </a:r>
            <a:endParaRPr lang="zh-CN" altLang="en-US" sz="1800" b="1">
              <a:solidFill>
                <a:schemeClr val="accent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Gill Sans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75785" y="4930140"/>
            <a:ext cx="63150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 fontAlgn="auto">
              <a:lnSpc>
                <a:spcPct val="150000"/>
              </a:lnSpc>
            </a:pPr>
            <a:r>
              <a:rPr lang="zh-CN" altLang="en-US" sz="1800" b="1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Gill Sans" charset="0"/>
              </a:rPr>
              <a:t>影像组学</a:t>
            </a:r>
            <a:r>
              <a:rPr lang="zh-CN" altLang="en-US" sz="1800" b="1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Gill Sans" charset="0"/>
              </a:rPr>
              <a:t>——预测是否达到pCR</a:t>
            </a:r>
            <a:endParaRPr lang="zh-CN" altLang="en-US" sz="1800" b="1">
              <a:solidFill>
                <a:schemeClr val="accent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Gill Sans" charset="0"/>
            </a:endParaRPr>
          </a:p>
          <a:p>
            <a:pPr algn="just" fontAlgn="auto">
              <a:lnSpc>
                <a:spcPct val="150000"/>
              </a:lnSpc>
            </a:pPr>
            <a:r>
              <a:rPr lang="zh-CN" altLang="en-US" sz="1800" b="1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Gill Sans" charset="0"/>
              </a:rPr>
              <a:t>肿瘤标志物</a:t>
            </a:r>
            <a:r>
              <a:rPr lang="en-US" altLang="zh-CN" sz="1800" b="1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Gill Sans" charset="0"/>
              </a:rPr>
              <a:t>——</a:t>
            </a:r>
            <a:r>
              <a:rPr lang="zh-CN" altLang="en-US" sz="1800" b="1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Gill Sans" charset="0"/>
              </a:rPr>
              <a:t>是否</a:t>
            </a:r>
            <a:r>
              <a:rPr lang="zh-CN" altLang="en-US" sz="1800" b="1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Gill Sans" charset="0"/>
              </a:rPr>
              <a:t>可以提高预测</a:t>
            </a:r>
            <a:r>
              <a:rPr lang="zh-CN" altLang="en-US" sz="1800" b="1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Gill Sans" charset="0"/>
              </a:rPr>
              <a:t>准确性</a:t>
            </a:r>
            <a:endParaRPr lang="zh-CN" altLang="en-US" sz="1800" b="1">
              <a:solidFill>
                <a:schemeClr val="accent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Gill Sans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3760470" y="1652270"/>
            <a:ext cx="188595" cy="20447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3760470" y="2832100"/>
            <a:ext cx="188595" cy="20447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3761105" y="3982720"/>
            <a:ext cx="188595" cy="20447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3761105" y="5133340"/>
            <a:ext cx="188595" cy="20447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/>
          <p:nvPr/>
        </p:nvCxnSpPr>
        <p:spPr>
          <a:xfrm flipH="1">
            <a:off x="2647950" y="2216785"/>
            <a:ext cx="1905" cy="473075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2646045" y="3367405"/>
            <a:ext cx="1905" cy="473075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>
            <a:off x="2644140" y="4518025"/>
            <a:ext cx="1905" cy="473075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4449445" y="1289050"/>
            <a:ext cx="616712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4375785" y="6072505"/>
            <a:ext cx="616712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2932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研究背景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任意多边形: 形状 30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67398" y="1844496"/>
            <a:ext cx="3231465" cy="3231465"/>
          </a:xfrm>
          <a:custGeom>
            <a:avLst/>
            <a:gdLst>
              <a:gd name="connsiteX0" fmla="*/ 1583813 w 3191256"/>
              <a:gd name="connsiteY0" fmla="*/ 492315 h 3191256"/>
              <a:gd name="connsiteX1" fmla="*/ 491213 w 3191256"/>
              <a:gd name="connsiteY1" fmla="*/ 1584915 h 3191256"/>
              <a:gd name="connsiteX2" fmla="*/ 1583813 w 3191256"/>
              <a:gd name="connsiteY2" fmla="*/ 2677515 h 3191256"/>
              <a:gd name="connsiteX3" fmla="*/ 2676413 w 3191256"/>
              <a:gd name="connsiteY3" fmla="*/ 1584915 h 3191256"/>
              <a:gd name="connsiteX4" fmla="*/ 1583813 w 3191256"/>
              <a:gd name="connsiteY4" fmla="*/ 492315 h 3191256"/>
              <a:gd name="connsiteX5" fmla="*/ 1595628 w 3191256"/>
              <a:gd name="connsiteY5" fmla="*/ 0 h 3191256"/>
              <a:gd name="connsiteX6" fmla="*/ 3191256 w 3191256"/>
              <a:gd name="connsiteY6" fmla="*/ 1595628 h 3191256"/>
              <a:gd name="connsiteX7" fmla="*/ 1595628 w 3191256"/>
              <a:gd name="connsiteY7" fmla="*/ 3191256 h 3191256"/>
              <a:gd name="connsiteX8" fmla="*/ 0 w 3191256"/>
              <a:gd name="connsiteY8" fmla="*/ 1595628 h 3191256"/>
              <a:gd name="connsiteX9" fmla="*/ 1595628 w 3191256"/>
              <a:gd name="connsiteY9" fmla="*/ 0 h 3191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91256" h="3191256">
                <a:moveTo>
                  <a:pt x="1583813" y="492315"/>
                </a:moveTo>
                <a:cubicBezTo>
                  <a:pt x="980387" y="492315"/>
                  <a:pt x="491213" y="981489"/>
                  <a:pt x="491213" y="1584915"/>
                </a:cubicBezTo>
                <a:cubicBezTo>
                  <a:pt x="491213" y="2188341"/>
                  <a:pt x="980387" y="2677515"/>
                  <a:pt x="1583813" y="2677515"/>
                </a:cubicBezTo>
                <a:cubicBezTo>
                  <a:pt x="2187239" y="2677515"/>
                  <a:pt x="2676413" y="2188341"/>
                  <a:pt x="2676413" y="1584915"/>
                </a:cubicBezTo>
                <a:cubicBezTo>
                  <a:pt x="2676413" y="981489"/>
                  <a:pt x="2187239" y="492315"/>
                  <a:pt x="1583813" y="492315"/>
                </a:cubicBezTo>
                <a:close/>
                <a:moveTo>
                  <a:pt x="1595628" y="0"/>
                </a:moveTo>
                <a:cubicBezTo>
                  <a:pt x="2476869" y="0"/>
                  <a:pt x="3191256" y="714387"/>
                  <a:pt x="3191256" y="1595628"/>
                </a:cubicBezTo>
                <a:cubicBezTo>
                  <a:pt x="3191256" y="2476869"/>
                  <a:pt x="2476869" y="3191256"/>
                  <a:pt x="1595628" y="3191256"/>
                </a:cubicBezTo>
                <a:cubicBezTo>
                  <a:pt x="714387" y="3191256"/>
                  <a:pt x="0" y="2476869"/>
                  <a:pt x="0" y="1595628"/>
                </a:cubicBezTo>
                <a:cubicBezTo>
                  <a:pt x="0" y="714387"/>
                  <a:pt x="714387" y="0"/>
                  <a:pt x="1595628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</p:spPr>
        <p:txBody>
          <a:bodyPr wrap="square">
            <a:noAutofit/>
          </a:bodyPr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任意多边形: 形状 33"/>
          <p:cNvSpPr/>
          <p:nvPr>
            <p:custDataLst>
              <p:tags r:id="rId2"/>
            </p:custDataLst>
          </p:nvPr>
        </p:nvSpPr>
        <p:spPr>
          <a:xfrm>
            <a:off x="2401932" y="3991961"/>
            <a:ext cx="1625519" cy="1355008"/>
          </a:xfrm>
          <a:custGeom>
            <a:avLst/>
            <a:gdLst>
              <a:gd name="connsiteX0" fmla="*/ 925566 w 1628002"/>
              <a:gd name="connsiteY0" fmla="*/ 0 h 1357077"/>
              <a:gd name="connsiteX1" fmla="*/ 1600200 w 1628002"/>
              <a:gd name="connsiteY1" fmla="*/ 387813 h 1357077"/>
              <a:gd name="connsiteX2" fmla="*/ 1618488 w 1628002"/>
              <a:gd name="connsiteY2" fmla="*/ 460965 h 1357077"/>
              <a:gd name="connsiteX3" fmla="*/ 950976 w 1628002"/>
              <a:gd name="connsiteY3" fmla="*/ 1110189 h 1357077"/>
              <a:gd name="connsiteX4" fmla="*/ 54864 w 1628002"/>
              <a:gd name="connsiteY4" fmla="*/ 1357077 h 1357077"/>
              <a:gd name="connsiteX5" fmla="*/ 0 w 1628002"/>
              <a:gd name="connsiteY5" fmla="*/ 1293069 h 1357077"/>
              <a:gd name="connsiteX6" fmla="*/ 0 w 1628002"/>
              <a:gd name="connsiteY6" fmla="*/ 550646 h 1357077"/>
              <a:gd name="connsiteX7" fmla="*/ 88695 w 1628002"/>
              <a:gd name="connsiteY7" fmla="*/ 546167 h 1357077"/>
              <a:gd name="connsiteX8" fmla="*/ 882984 w 1628002"/>
              <a:gd name="connsiteY8" fmla="*/ 70091 h 135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8002" h="1357077">
                <a:moveTo>
                  <a:pt x="925566" y="0"/>
                </a:moveTo>
                <a:lnTo>
                  <a:pt x="1600200" y="387813"/>
                </a:lnTo>
                <a:cubicBezTo>
                  <a:pt x="1627632" y="406101"/>
                  <a:pt x="1636776" y="433533"/>
                  <a:pt x="1618488" y="460965"/>
                </a:cubicBezTo>
                <a:cubicBezTo>
                  <a:pt x="1453896" y="726141"/>
                  <a:pt x="1225296" y="945597"/>
                  <a:pt x="950976" y="1110189"/>
                </a:cubicBezTo>
                <a:cubicBezTo>
                  <a:pt x="676656" y="1265637"/>
                  <a:pt x="356616" y="1357077"/>
                  <a:pt x="54864" y="1357077"/>
                </a:cubicBezTo>
                <a:cubicBezTo>
                  <a:pt x="27432" y="1357077"/>
                  <a:pt x="0" y="1329645"/>
                  <a:pt x="0" y="1293069"/>
                </a:cubicBezTo>
                <a:lnTo>
                  <a:pt x="0" y="550646"/>
                </a:lnTo>
                <a:lnTo>
                  <a:pt x="88695" y="546167"/>
                </a:lnTo>
                <a:cubicBezTo>
                  <a:pt x="419265" y="512596"/>
                  <a:pt x="706271" y="331661"/>
                  <a:pt x="882984" y="7009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bg2"/>
            </a:solidFill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>
            <a:noAutofit/>
          </a:bodyPr>
          <a:p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/>
          <p:cNvSpPr/>
          <p:nvPr>
            <p:custDataLst>
              <p:tags r:id="rId3"/>
            </p:custDataLst>
          </p:nvPr>
        </p:nvSpPr>
        <p:spPr>
          <a:xfrm>
            <a:off x="3315572" y="2470919"/>
            <a:ext cx="1067651" cy="1959661"/>
          </a:xfrm>
          <a:custGeom>
            <a:avLst/>
            <a:gdLst>
              <a:gd name="connsiteX0" fmla="*/ 778817 w 1069282"/>
              <a:gd name="connsiteY0" fmla="*/ 799 h 1962654"/>
              <a:gd name="connsiteX1" fmla="*/ 831538 w 1069282"/>
              <a:gd name="connsiteY1" fmla="*/ 27802 h 1962654"/>
              <a:gd name="connsiteX2" fmla="*/ 1069282 w 1069282"/>
              <a:gd name="connsiteY2" fmla="*/ 978778 h 1962654"/>
              <a:gd name="connsiteX3" fmla="*/ 831538 w 1069282"/>
              <a:gd name="connsiteY3" fmla="*/ 1938898 h 1962654"/>
              <a:gd name="connsiteX4" fmla="*/ 758386 w 1069282"/>
              <a:gd name="connsiteY4" fmla="*/ 1957186 h 1962654"/>
              <a:gd name="connsiteX5" fmla="*/ 0 w 1069282"/>
              <a:gd name="connsiteY5" fmla="*/ 1517667 h 1962654"/>
              <a:gd name="connsiteX6" fmla="*/ 64993 w 1069282"/>
              <a:gd name="connsiteY6" fmla="*/ 1397926 h 1962654"/>
              <a:gd name="connsiteX7" fmla="*/ 150855 w 1069282"/>
              <a:gd name="connsiteY7" fmla="*/ 972637 h 1962654"/>
              <a:gd name="connsiteX8" fmla="*/ 64993 w 1069282"/>
              <a:gd name="connsiteY8" fmla="*/ 547348 h 1962654"/>
              <a:gd name="connsiteX9" fmla="*/ 8847 w 1069282"/>
              <a:gd name="connsiteY9" fmla="*/ 443906 h 1962654"/>
              <a:gd name="connsiteX10" fmla="*/ 758386 w 1069282"/>
              <a:gd name="connsiteY10" fmla="*/ 9514 h 1962654"/>
              <a:gd name="connsiteX11" fmla="*/ 778817 w 1069282"/>
              <a:gd name="connsiteY11" fmla="*/ 799 h 1962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9282" h="1962654">
                <a:moveTo>
                  <a:pt x="778817" y="799"/>
                </a:moveTo>
                <a:cubicBezTo>
                  <a:pt x="798963" y="-3059"/>
                  <a:pt x="817822" y="7228"/>
                  <a:pt x="831538" y="27802"/>
                </a:cubicBezTo>
                <a:cubicBezTo>
                  <a:pt x="986986" y="320410"/>
                  <a:pt x="1069282" y="649594"/>
                  <a:pt x="1069282" y="978778"/>
                </a:cubicBezTo>
                <a:cubicBezTo>
                  <a:pt x="1069282" y="1317106"/>
                  <a:pt x="986986" y="1646290"/>
                  <a:pt x="831538" y="1938898"/>
                </a:cubicBezTo>
                <a:cubicBezTo>
                  <a:pt x="813250" y="1966330"/>
                  <a:pt x="785818" y="1966330"/>
                  <a:pt x="758386" y="1957186"/>
                </a:cubicBezTo>
                <a:lnTo>
                  <a:pt x="0" y="1517667"/>
                </a:lnTo>
                <a:lnTo>
                  <a:pt x="64993" y="1397926"/>
                </a:lnTo>
                <a:cubicBezTo>
                  <a:pt x="120282" y="1267209"/>
                  <a:pt x="150855" y="1123494"/>
                  <a:pt x="150855" y="972637"/>
                </a:cubicBezTo>
                <a:cubicBezTo>
                  <a:pt x="150855" y="821781"/>
                  <a:pt x="120282" y="678065"/>
                  <a:pt x="64993" y="547348"/>
                </a:cubicBezTo>
                <a:lnTo>
                  <a:pt x="8847" y="443906"/>
                </a:lnTo>
                <a:lnTo>
                  <a:pt x="758386" y="9514"/>
                </a:lnTo>
                <a:cubicBezTo>
                  <a:pt x="765244" y="4942"/>
                  <a:pt x="772102" y="2085"/>
                  <a:pt x="778817" y="799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2"/>
            </a:solidFill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>
            <a:noAutofit/>
          </a:bodyPr>
          <a:p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2" name="任意多边形: 形状 31"/>
          <p:cNvSpPr/>
          <p:nvPr>
            <p:custDataLst>
              <p:tags r:id="rId4"/>
            </p:custDataLst>
          </p:nvPr>
        </p:nvSpPr>
        <p:spPr>
          <a:xfrm>
            <a:off x="2382277" y="1356926"/>
            <a:ext cx="1800760" cy="1553292"/>
          </a:xfrm>
          <a:custGeom>
            <a:avLst/>
            <a:gdLst>
              <a:gd name="connsiteX0" fmla="*/ 56636 w 1803510"/>
              <a:gd name="connsiteY0" fmla="*/ 0 h 1555664"/>
              <a:gd name="connsiteX1" fmla="*/ 1053332 w 1803510"/>
              <a:gd name="connsiteY1" fmla="*/ 283464 h 1555664"/>
              <a:gd name="connsiteX2" fmla="*/ 1793996 w 1803510"/>
              <a:gd name="connsiteY2" fmla="*/ 1005840 h 1555664"/>
              <a:gd name="connsiteX3" fmla="*/ 1775708 w 1803510"/>
              <a:gd name="connsiteY3" fmla="*/ 1078992 h 1555664"/>
              <a:gd name="connsiteX4" fmla="*/ 947101 w 1803510"/>
              <a:gd name="connsiteY4" fmla="*/ 1555664 h 1555664"/>
              <a:gd name="connsiteX5" fmla="*/ 899282 w 1803510"/>
              <a:gd name="connsiteY5" fmla="*/ 1476952 h 1555664"/>
              <a:gd name="connsiteX6" fmla="*/ 104993 w 1803510"/>
              <a:gd name="connsiteY6" fmla="*/ 1000876 h 1555664"/>
              <a:gd name="connsiteX7" fmla="*/ 46060 w 1803510"/>
              <a:gd name="connsiteY7" fmla="*/ 997900 h 1555664"/>
              <a:gd name="connsiteX8" fmla="*/ 1772 w 1803510"/>
              <a:gd name="connsiteY8" fmla="*/ 45720 h 1555664"/>
              <a:gd name="connsiteX9" fmla="*/ 56636 w 1803510"/>
              <a:gd name="connsiteY9" fmla="*/ 0 h 15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03510" h="1555664">
                <a:moveTo>
                  <a:pt x="56636" y="0"/>
                </a:moveTo>
                <a:cubicBezTo>
                  <a:pt x="404108" y="9144"/>
                  <a:pt x="751580" y="100584"/>
                  <a:pt x="1053332" y="283464"/>
                </a:cubicBezTo>
                <a:cubicBezTo>
                  <a:pt x="1355084" y="457200"/>
                  <a:pt x="1611116" y="704088"/>
                  <a:pt x="1793996" y="1005840"/>
                </a:cubicBezTo>
                <a:cubicBezTo>
                  <a:pt x="1812284" y="1033272"/>
                  <a:pt x="1803140" y="1060704"/>
                  <a:pt x="1775708" y="1078992"/>
                </a:cubicBezTo>
                <a:lnTo>
                  <a:pt x="947101" y="1555664"/>
                </a:lnTo>
                <a:lnTo>
                  <a:pt x="899282" y="1476952"/>
                </a:lnTo>
                <a:cubicBezTo>
                  <a:pt x="722569" y="1215382"/>
                  <a:pt x="435563" y="1034447"/>
                  <a:pt x="104993" y="1000876"/>
                </a:cubicBezTo>
                <a:lnTo>
                  <a:pt x="46060" y="997900"/>
                </a:lnTo>
                <a:lnTo>
                  <a:pt x="1772" y="45720"/>
                </a:lnTo>
                <a:cubicBezTo>
                  <a:pt x="-7372" y="18288"/>
                  <a:pt x="20060" y="0"/>
                  <a:pt x="56636" y="0"/>
                </a:cubicBezTo>
                <a:close/>
              </a:path>
            </a:pathLst>
          </a:cu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>
            <a:noAutofit/>
          </a:bodyPr>
          <a:p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5" name="对象16"/>
          <p:cNvSpPr/>
          <p:nvPr>
            <p:custDataLst>
              <p:tags r:id="rId5"/>
            </p:custDataLst>
          </p:nvPr>
        </p:nvSpPr>
        <p:spPr>
          <a:xfrm>
            <a:off x="1370363" y="2452533"/>
            <a:ext cx="1999482" cy="1999482"/>
          </a:xfrm>
          <a:custGeom>
            <a:avLst/>
            <a:gdLst/>
            <a:ahLst/>
            <a:cxnLst/>
            <a:rect l="l" t="t" r="r" b="b"/>
            <a:pathLst>
              <a:path w="2002536" h="2002536">
                <a:moveTo>
                  <a:pt x="987552" y="0"/>
                </a:moveTo>
                <a:cubicBezTo>
                  <a:pt x="987552" y="0"/>
                  <a:pt x="996696" y="0"/>
                  <a:pt x="1005840" y="0"/>
                </a:cubicBezTo>
                <a:cubicBezTo>
                  <a:pt x="1005840" y="0"/>
                  <a:pt x="1014984" y="0"/>
                  <a:pt x="1024128" y="0"/>
                </a:cubicBezTo>
                <a:lnTo>
                  <a:pt x="1024128" y="27432"/>
                </a:lnTo>
                <a:cubicBezTo>
                  <a:pt x="1014984" y="27432"/>
                  <a:pt x="1005840" y="27432"/>
                  <a:pt x="1005840" y="27432"/>
                </a:cubicBezTo>
                <a:cubicBezTo>
                  <a:pt x="996696" y="27432"/>
                  <a:pt x="987552" y="27432"/>
                  <a:pt x="987552" y="27432"/>
                </a:cubicBezTo>
                <a:lnTo>
                  <a:pt x="987552" y="0"/>
                </a:lnTo>
                <a:moveTo>
                  <a:pt x="905256" y="9144"/>
                </a:moveTo>
                <a:cubicBezTo>
                  <a:pt x="914400" y="0"/>
                  <a:pt x="932688" y="0"/>
                  <a:pt x="941832" y="0"/>
                </a:cubicBezTo>
                <a:lnTo>
                  <a:pt x="941832" y="27432"/>
                </a:lnTo>
                <a:cubicBezTo>
                  <a:pt x="932688" y="27432"/>
                  <a:pt x="923544" y="27432"/>
                  <a:pt x="905256" y="27432"/>
                </a:cubicBezTo>
                <a:lnTo>
                  <a:pt x="905256" y="9144"/>
                </a:lnTo>
                <a:moveTo>
                  <a:pt x="1060704" y="0"/>
                </a:moveTo>
                <a:cubicBezTo>
                  <a:pt x="1078992" y="0"/>
                  <a:pt x="1088136" y="0"/>
                  <a:pt x="1097280" y="9144"/>
                </a:cubicBezTo>
                <a:lnTo>
                  <a:pt x="1097280" y="27432"/>
                </a:lnTo>
                <a:cubicBezTo>
                  <a:pt x="1088136" y="27432"/>
                  <a:pt x="1069848" y="27432"/>
                  <a:pt x="1060704" y="27432"/>
                </a:cubicBezTo>
                <a:lnTo>
                  <a:pt x="1060704" y="0"/>
                </a:lnTo>
                <a:moveTo>
                  <a:pt x="822960" y="18288"/>
                </a:moveTo>
                <a:cubicBezTo>
                  <a:pt x="841248" y="9144"/>
                  <a:pt x="850392" y="9144"/>
                  <a:pt x="868680" y="9144"/>
                </a:cubicBezTo>
                <a:lnTo>
                  <a:pt x="868680" y="36576"/>
                </a:lnTo>
                <a:cubicBezTo>
                  <a:pt x="859536" y="36576"/>
                  <a:pt x="841248" y="36576"/>
                  <a:pt x="832104" y="36576"/>
                </a:cubicBezTo>
                <a:lnTo>
                  <a:pt x="822960" y="18288"/>
                </a:lnTo>
                <a:moveTo>
                  <a:pt x="1143000" y="9144"/>
                </a:moveTo>
                <a:cubicBezTo>
                  <a:pt x="1152144" y="9144"/>
                  <a:pt x="1170432" y="9144"/>
                  <a:pt x="1179576" y="18288"/>
                </a:cubicBezTo>
                <a:lnTo>
                  <a:pt x="1179576" y="36576"/>
                </a:lnTo>
                <a:cubicBezTo>
                  <a:pt x="1161288" y="36576"/>
                  <a:pt x="1152144" y="36576"/>
                  <a:pt x="1133856" y="36576"/>
                </a:cubicBezTo>
                <a:lnTo>
                  <a:pt x="1143000" y="9144"/>
                </a:lnTo>
                <a:moveTo>
                  <a:pt x="749808" y="36576"/>
                </a:moveTo>
                <a:cubicBezTo>
                  <a:pt x="758952" y="27432"/>
                  <a:pt x="777240" y="27432"/>
                  <a:pt x="786384" y="27432"/>
                </a:cubicBezTo>
                <a:lnTo>
                  <a:pt x="795528" y="45720"/>
                </a:lnTo>
                <a:cubicBezTo>
                  <a:pt x="777240" y="54864"/>
                  <a:pt x="768096" y="54864"/>
                  <a:pt x="758952" y="54864"/>
                </a:cubicBezTo>
                <a:lnTo>
                  <a:pt x="749808" y="36576"/>
                </a:lnTo>
                <a:moveTo>
                  <a:pt x="1216152" y="27432"/>
                </a:moveTo>
                <a:cubicBezTo>
                  <a:pt x="1234440" y="27432"/>
                  <a:pt x="1243584" y="27432"/>
                  <a:pt x="1252728" y="36576"/>
                </a:cubicBezTo>
                <a:lnTo>
                  <a:pt x="1252728" y="54864"/>
                </a:lnTo>
                <a:cubicBezTo>
                  <a:pt x="1234440" y="54864"/>
                  <a:pt x="1225296" y="54864"/>
                  <a:pt x="1216152" y="45720"/>
                </a:cubicBezTo>
                <a:lnTo>
                  <a:pt x="1216152" y="27432"/>
                </a:lnTo>
                <a:moveTo>
                  <a:pt x="676656" y="54864"/>
                </a:moveTo>
                <a:cubicBezTo>
                  <a:pt x="685800" y="54864"/>
                  <a:pt x="694944" y="45720"/>
                  <a:pt x="713232" y="45720"/>
                </a:cubicBezTo>
                <a:lnTo>
                  <a:pt x="722376" y="64008"/>
                </a:lnTo>
                <a:cubicBezTo>
                  <a:pt x="704088" y="73152"/>
                  <a:pt x="694944" y="73152"/>
                  <a:pt x="685800" y="82296"/>
                </a:cubicBezTo>
                <a:lnTo>
                  <a:pt x="676656" y="54864"/>
                </a:lnTo>
                <a:moveTo>
                  <a:pt x="1298448" y="45720"/>
                </a:moveTo>
                <a:cubicBezTo>
                  <a:pt x="1307592" y="45720"/>
                  <a:pt x="1316736" y="54864"/>
                  <a:pt x="1335024" y="54864"/>
                </a:cubicBezTo>
                <a:lnTo>
                  <a:pt x="1325880" y="82296"/>
                </a:lnTo>
                <a:cubicBezTo>
                  <a:pt x="1307592" y="73152"/>
                  <a:pt x="1298448" y="73152"/>
                  <a:pt x="1289304" y="64008"/>
                </a:cubicBezTo>
                <a:lnTo>
                  <a:pt x="1298448" y="45720"/>
                </a:lnTo>
                <a:moveTo>
                  <a:pt x="603504" y="82296"/>
                </a:moveTo>
                <a:cubicBezTo>
                  <a:pt x="612648" y="82296"/>
                  <a:pt x="621792" y="73152"/>
                  <a:pt x="640080" y="73152"/>
                </a:cubicBezTo>
                <a:lnTo>
                  <a:pt x="649224" y="91440"/>
                </a:lnTo>
                <a:cubicBezTo>
                  <a:pt x="630936" y="100584"/>
                  <a:pt x="621792" y="100584"/>
                  <a:pt x="612648" y="109728"/>
                </a:cubicBezTo>
                <a:lnTo>
                  <a:pt x="603504" y="82296"/>
                </a:lnTo>
                <a:moveTo>
                  <a:pt x="1371600" y="73152"/>
                </a:moveTo>
                <a:cubicBezTo>
                  <a:pt x="1380744" y="73152"/>
                  <a:pt x="1389888" y="82296"/>
                  <a:pt x="1408176" y="82296"/>
                </a:cubicBezTo>
                <a:lnTo>
                  <a:pt x="1399032" y="109728"/>
                </a:lnTo>
                <a:cubicBezTo>
                  <a:pt x="1380744" y="100584"/>
                  <a:pt x="1371600" y="100584"/>
                  <a:pt x="1362456" y="91440"/>
                </a:cubicBezTo>
                <a:lnTo>
                  <a:pt x="1371600" y="73152"/>
                </a:lnTo>
                <a:moveTo>
                  <a:pt x="530352" y="118872"/>
                </a:moveTo>
                <a:cubicBezTo>
                  <a:pt x="539496" y="109728"/>
                  <a:pt x="557784" y="109728"/>
                  <a:pt x="566928" y="100584"/>
                </a:cubicBezTo>
                <a:lnTo>
                  <a:pt x="576072" y="118872"/>
                </a:lnTo>
                <a:cubicBezTo>
                  <a:pt x="566928" y="128016"/>
                  <a:pt x="557784" y="137160"/>
                  <a:pt x="539496" y="137160"/>
                </a:cubicBezTo>
                <a:lnTo>
                  <a:pt x="530352" y="118872"/>
                </a:lnTo>
                <a:moveTo>
                  <a:pt x="1444752" y="100584"/>
                </a:moveTo>
                <a:cubicBezTo>
                  <a:pt x="1453896" y="109728"/>
                  <a:pt x="1463040" y="109728"/>
                  <a:pt x="1472184" y="118872"/>
                </a:cubicBezTo>
                <a:lnTo>
                  <a:pt x="1463040" y="137160"/>
                </a:lnTo>
                <a:cubicBezTo>
                  <a:pt x="1453896" y="137160"/>
                  <a:pt x="1444752" y="128016"/>
                  <a:pt x="1426464" y="118872"/>
                </a:cubicBezTo>
                <a:lnTo>
                  <a:pt x="1444752" y="100584"/>
                </a:lnTo>
                <a:moveTo>
                  <a:pt x="466344" y="155448"/>
                </a:moveTo>
                <a:cubicBezTo>
                  <a:pt x="475488" y="155448"/>
                  <a:pt x="484632" y="146304"/>
                  <a:pt x="493776" y="137160"/>
                </a:cubicBezTo>
                <a:lnTo>
                  <a:pt x="512064" y="155448"/>
                </a:lnTo>
                <a:cubicBezTo>
                  <a:pt x="493776" y="164592"/>
                  <a:pt x="484632" y="173736"/>
                  <a:pt x="475488" y="182880"/>
                </a:cubicBezTo>
                <a:lnTo>
                  <a:pt x="466344" y="155448"/>
                </a:lnTo>
                <a:moveTo>
                  <a:pt x="1508760" y="137160"/>
                </a:moveTo>
                <a:cubicBezTo>
                  <a:pt x="1517904" y="146304"/>
                  <a:pt x="1536192" y="155448"/>
                  <a:pt x="1545336" y="155448"/>
                </a:cubicBezTo>
                <a:lnTo>
                  <a:pt x="1527048" y="182880"/>
                </a:lnTo>
                <a:cubicBezTo>
                  <a:pt x="1517904" y="173736"/>
                  <a:pt x="1508760" y="164592"/>
                  <a:pt x="1499616" y="155448"/>
                </a:cubicBezTo>
                <a:lnTo>
                  <a:pt x="1508760" y="137160"/>
                </a:lnTo>
                <a:moveTo>
                  <a:pt x="1572768" y="182880"/>
                </a:moveTo>
                <a:cubicBezTo>
                  <a:pt x="1591056" y="192024"/>
                  <a:pt x="1600200" y="192024"/>
                  <a:pt x="1609344" y="201168"/>
                </a:cubicBezTo>
                <a:lnTo>
                  <a:pt x="1591056" y="219456"/>
                </a:lnTo>
                <a:cubicBezTo>
                  <a:pt x="1581912" y="219456"/>
                  <a:pt x="1572768" y="210312"/>
                  <a:pt x="1563624" y="201168"/>
                </a:cubicBezTo>
                <a:lnTo>
                  <a:pt x="1572768" y="182880"/>
                </a:lnTo>
                <a:moveTo>
                  <a:pt x="393192" y="201168"/>
                </a:moveTo>
                <a:cubicBezTo>
                  <a:pt x="411480" y="192024"/>
                  <a:pt x="420624" y="192024"/>
                  <a:pt x="429768" y="182880"/>
                </a:cubicBezTo>
                <a:lnTo>
                  <a:pt x="448056" y="201168"/>
                </a:lnTo>
                <a:cubicBezTo>
                  <a:pt x="429768" y="210312"/>
                  <a:pt x="420624" y="219456"/>
                  <a:pt x="411480" y="219456"/>
                </a:cubicBezTo>
                <a:lnTo>
                  <a:pt x="393192" y="201168"/>
                </a:lnTo>
                <a:moveTo>
                  <a:pt x="1636776" y="228600"/>
                </a:moveTo>
                <a:cubicBezTo>
                  <a:pt x="1645920" y="237744"/>
                  <a:pt x="1664208" y="246888"/>
                  <a:pt x="1673352" y="256032"/>
                </a:cubicBezTo>
                <a:lnTo>
                  <a:pt x="1655064" y="274320"/>
                </a:lnTo>
                <a:cubicBezTo>
                  <a:pt x="1645920" y="265176"/>
                  <a:pt x="1636776" y="256032"/>
                  <a:pt x="1627632" y="246888"/>
                </a:cubicBezTo>
                <a:lnTo>
                  <a:pt x="1636776" y="228600"/>
                </a:lnTo>
                <a:moveTo>
                  <a:pt x="338328" y="256032"/>
                </a:moveTo>
                <a:cubicBezTo>
                  <a:pt x="347472" y="246888"/>
                  <a:pt x="356616" y="237744"/>
                  <a:pt x="365760" y="228600"/>
                </a:cubicBezTo>
                <a:lnTo>
                  <a:pt x="384048" y="246888"/>
                </a:lnTo>
                <a:cubicBezTo>
                  <a:pt x="374904" y="256032"/>
                  <a:pt x="365760" y="265176"/>
                  <a:pt x="356616" y="274320"/>
                </a:cubicBezTo>
                <a:lnTo>
                  <a:pt x="338328" y="256032"/>
                </a:lnTo>
                <a:moveTo>
                  <a:pt x="1700784" y="283464"/>
                </a:moveTo>
                <a:cubicBezTo>
                  <a:pt x="1709928" y="292608"/>
                  <a:pt x="1719072" y="301752"/>
                  <a:pt x="1728216" y="310896"/>
                </a:cubicBezTo>
                <a:lnTo>
                  <a:pt x="1709928" y="329184"/>
                </a:lnTo>
                <a:cubicBezTo>
                  <a:pt x="1700784" y="320040"/>
                  <a:pt x="1691640" y="310896"/>
                  <a:pt x="1682496" y="301752"/>
                </a:cubicBezTo>
                <a:lnTo>
                  <a:pt x="1700784" y="283464"/>
                </a:lnTo>
                <a:moveTo>
                  <a:pt x="283464" y="310896"/>
                </a:moveTo>
                <a:cubicBezTo>
                  <a:pt x="292608" y="301752"/>
                  <a:pt x="301752" y="292608"/>
                  <a:pt x="310896" y="283464"/>
                </a:cubicBezTo>
                <a:lnTo>
                  <a:pt x="329184" y="301752"/>
                </a:lnTo>
                <a:cubicBezTo>
                  <a:pt x="320040" y="310896"/>
                  <a:pt x="310896" y="320040"/>
                  <a:pt x="301752" y="329184"/>
                </a:cubicBezTo>
                <a:lnTo>
                  <a:pt x="283464" y="310896"/>
                </a:lnTo>
                <a:moveTo>
                  <a:pt x="1755648" y="338328"/>
                </a:moveTo>
                <a:cubicBezTo>
                  <a:pt x="1764792" y="347472"/>
                  <a:pt x="1773936" y="356616"/>
                  <a:pt x="1783080" y="365760"/>
                </a:cubicBezTo>
                <a:lnTo>
                  <a:pt x="1755648" y="384048"/>
                </a:lnTo>
                <a:cubicBezTo>
                  <a:pt x="1755648" y="374904"/>
                  <a:pt x="1746504" y="365760"/>
                  <a:pt x="1737360" y="356616"/>
                </a:cubicBezTo>
                <a:lnTo>
                  <a:pt x="1755648" y="338328"/>
                </a:lnTo>
                <a:moveTo>
                  <a:pt x="228600" y="365760"/>
                </a:moveTo>
                <a:cubicBezTo>
                  <a:pt x="237744" y="356616"/>
                  <a:pt x="246888" y="347472"/>
                  <a:pt x="256032" y="338328"/>
                </a:cubicBezTo>
                <a:lnTo>
                  <a:pt x="274320" y="356616"/>
                </a:lnTo>
                <a:cubicBezTo>
                  <a:pt x="265176" y="365760"/>
                  <a:pt x="256032" y="374904"/>
                  <a:pt x="246888" y="384048"/>
                </a:cubicBezTo>
                <a:lnTo>
                  <a:pt x="228600" y="365760"/>
                </a:lnTo>
                <a:moveTo>
                  <a:pt x="1801368" y="393192"/>
                </a:moveTo>
                <a:cubicBezTo>
                  <a:pt x="1810512" y="411480"/>
                  <a:pt x="1819656" y="420624"/>
                  <a:pt x="1828800" y="429768"/>
                </a:cubicBezTo>
                <a:lnTo>
                  <a:pt x="1801368" y="448056"/>
                </a:lnTo>
                <a:cubicBezTo>
                  <a:pt x="1801368" y="429768"/>
                  <a:pt x="1792224" y="420624"/>
                  <a:pt x="1783080" y="411480"/>
                </a:cubicBezTo>
                <a:lnTo>
                  <a:pt x="1801368" y="393192"/>
                </a:lnTo>
                <a:moveTo>
                  <a:pt x="182880" y="429768"/>
                </a:moveTo>
                <a:cubicBezTo>
                  <a:pt x="192024" y="420624"/>
                  <a:pt x="192024" y="411480"/>
                  <a:pt x="201168" y="393192"/>
                </a:cubicBezTo>
                <a:lnTo>
                  <a:pt x="219456" y="411480"/>
                </a:lnTo>
                <a:cubicBezTo>
                  <a:pt x="219456" y="420624"/>
                  <a:pt x="210312" y="429768"/>
                  <a:pt x="201168" y="448056"/>
                </a:cubicBezTo>
                <a:lnTo>
                  <a:pt x="182880" y="429768"/>
                </a:lnTo>
                <a:moveTo>
                  <a:pt x="1847088" y="466344"/>
                </a:moveTo>
                <a:cubicBezTo>
                  <a:pt x="1856232" y="475488"/>
                  <a:pt x="1865376" y="484632"/>
                  <a:pt x="1865376" y="493776"/>
                </a:cubicBezTo>
                <a:lnTo>
                  <a:pt x="1847088" y="512064"/>
                </a:lnTo>
                <a:cubicBezTo>
                  <a:pt x="1837944" y="493776"/>
                  <a:pt x="1837944" y="484632"/>
                  <a:pt x="1828800" y="475488"/>
                </a:cubicBezTo>
                <a:lnTo>
                  <a:pt x="1847088" y="466344"/>
                </a:lnTo>
                <a:moveTo>
                  <a:pt x="137160" y="493776"/>
                </a:moveTo>
                <a:cubicBezTo>
                  <a:pt x="146304" y="484632"/>
                  <a:pt x="155448" y="475488"/>
                  <a:pt x="155448" y="466344"/>
                </a:cubicBezTo>
                <a:lnTo>
                  <a:pt x="182880" y="475488"/>
                </a:lnTo>
                <a:cubicBezTo>
                  <a:pt x="173736" y="484632"/>
                  <a:pt x="164592" y="493776"/>
                  <a:pt x="155448" y="512064"/>
                </a:cubicBezTo>
                <a:lnTo>
                  <a:pt x="137160" y="493776"/>
                </a:lnTo>
                <a:moveTo>
                  <a:pt x="100584" y="566928"/>
                </a:moveTo>
                <a:cubicBezTo>
                  <a:pt x="109728" y="557784"/>
                  <a:pt x="109728" y="539496"/>
                  <a:pt x="118872" y="530352"/>
                </a:cubicBezTo>
                <a:lnTo>
                  <a:pt x="137160" y="539496"/>
                </a:lnTo>
                <a:cubicBezTo>
                  <a:pt x="137160" y="557784"/>
                  <a:pt x="128016" y="566928"/>
                  <a:pt x="118872" y="576072"/>
                </a:cubicBezTo>
                <a:lnTo>
                  <a:pt x="100584" y="566928"/>
                </a:lnTo>
                <a:moveTo>
                  <a:pt x="1892808" y="530352"/>
                </a:moveTo>
                <a:cubicBezTo>
                  <a:pt x="1892808" y="539496"/>
                  <a:pt x="1901952" y="557784"/>
                  <a:pt x="1901952" y="566928"/>
                </a:cubicBezTo>
                <a:lnTo>
                  <a:pt x="1883664" y="576072"/>
                </a:lnTo>
                <a:cubicBezTo>
                  <a:pt x="1874520" y="566928"/>
                  <a:pt x="1874520" y="557784"/>
                  <a:pt x="1865376" y="539496"/>
                </a:cubicBezTo>
                <a:lnTo>
                  <a:pt x="1892808" y="530352"/>
                </a:lnTo>
                <a:moveTo>
                  <a:pt x="73152" y="640080"/>
                </a:moveTo>
                <a:cubicBezTo>
                  <a:pt x="73152" y="621792"/>
                  <a:pt x="82296" y="612648"/>
                  <a:pt x="82296" y="603504"/>
                </a:cubicBezTo>
                <a:lnTo>
                  <a:pt x="109728" y="612648"/>
                </a:lnTo>
                <a:cubicBezTo>
                  <a:pt x="100584" y="621792"/>
                  <a:pt x="100584" y="630936"/>
                  <a:pt x="91440" y="649224"/>
                </a:cubicBezTo>
                <a:lnTo>
                  <a:pt x="73152" y="640080"/>
                </a:lnTo>
                <a:moveTo>
                  <a:pt x="1920240" y="603504"/>
                </a:moveTo>
                <a:cubicBezTo>
                  <a:pt x="1929384" y="612648"/>
                  <a:pt x="1929384" y="621792"/>
                  <a:pt x="1938528" y="640080"/>
                </a:cubicBezTo>
                <a:lnTo>
                  <a:pt x="1911096" y="649224"/>
                </a:lnTo>
                <a:cubicBezTo>
                  <a:pt x="1911096" y="630936"/>
                  <a:pt x="1901952" y="621792"/>
                  <a:pt x="1901952" y="612648"/>
                </a:cubicBezTo>
                <a:lnTo>
                  <a:pt x="1920240" y="603504"/>
                </a:lnTo>
                <a:moveTo>
                  <a:pt x="45720" y="713232"/>
                </a:moveTo>
                <a:cubicBezTo>
                  <a:pt x="45720" y="694944"/>
                  <a:pt x="54864" y="685800"/>
                  <a:pt x="54864" y="676656"/>
                </a:cubicBezTo>
                <a:lnTo>
                  <a:pt x="82296" y="685800"/>
                </a:lnTo>
                <a:cubicBezTo>
                  <a:pt x="73152" y="694944"/>
                  <a:pt x="73152" y="704088"/>
                  <a:pt x="64008" y="722376"/>
                </a:cubicBezTo>
                <a:lnTo>
                  <a:pt x="45720" y="713232"/>
                </a:lnTo>
                <a:moveTo>
                  <a:pt x="1947672" y="676656"/>
                </a:moveTo>
                <a:cubicBezTo>
                  <a:pt x="1956816" y="685800"/>
                  <a:pt x="1956816" y="694944"/>
                  <a:pt x="1965960" y="713232"/>
                </a:cubicBezTo>
                <a:lnTo>
                  <a:pt x="1938528" y="722376"/>
                </a:lnTo>
                <a:cubicBezTo>
                  <a:pt x="1938528" y="704088"/>
                  <a:pt x="1929384" y="694944"/>
                  <a:pt x="1929384" y="685800"/>
                </a:cubicBezTo>
                <a:lnTo>
                  <a:pt x="1947672" y="676656"/>
                </a:lnTo>
                <a:moveTo>
                  <a:pt x="27432" y="786384"/>
                </a:moveTo>
                <a:cubicBezTo>
                  <a:pt x="27432" y="777240"/>
                  <a:pt x="27432" y="758952"/>
                  <a:pt x="36576" y="749808"/>
                </a:cubicBezTo>
                <a:lnTo>
                  <a:pt x="54864" y="758952"/>
                </a:lnTo>
                <a:cubicBezTo>
                  <a:pt x="54864" y="768096"/>
                  <a:pt x="54864" y="777240"/>
                  <a:pt x="45720" y="795528"/>
                </a:cubicBezTo>
                <a:lnTo>
                  <a:pt x="27432" y="786384"/>
                </a:lnTo>
                <a:moveTo>
                  <a:pt x="1975104" y="749808"/>
                </a:moveTo>
                <a:cubicBezTo>
                  <a:pt x="1975104" y="758952"/>
                  <a:pt x="1984248" y="777240"/>
                  <a:pt x="1984248" y="786384"/>
                </a:cubicBezTo>
                <a:lnTo>
                  <a:pt x="1956816" y="795528"/>
                </a:lnTo>
                <a:cubicBezTo>
                  <a:pt x="1956816" y="777240"/>
                  <a:pt x="1956816" y="768096"/>
                  <a:pt x="1947672" y="758952"/>
                </a:cubicBezTo>
                <a:lnTo>
                  <a:pt x="1975104" y="749808"/>
                </a:lnTo>
                <a:moveTo>
                  <a:pt x="9144" y="868680"/>
                </a:moveTo>
                <a:cubicBezTo>
                  <a:pt x="9144" y="850392"/>
                  <a:pt x="9144" y="841248"/>
                  <a:pt x="18288" y="822960"/>
                </a:cubicBezTo>
                <a:lnTo>
                  <a:pt x="36576" y="832104"/>
                </a:lnTo>
                <a:cubicBezTo>
                  <a:pt x="36576" y="841248"/>
                  <a:pt x="36576" y="859536"/>
                  <a:pt x="36576" y="868680"/>
                </a:cubicBezTo>
                <a:lnTo>
                  <a:pt x="9144" y="868680"/>
                </a:lnTo>
                <a:moveTo>
                  <a:pt x="1993392" y="822960"/>
                </a:moveTo>
                <a:cubicBezTo>
                  <a:pt x="1993392" y="841248"/>
                  <a:pt x="1993392" y="850392"/>
                  <a:pt x="1993392" y="868680"/>
                </a:cubicBezTo>
                <a:lnTo>
                  <a:pt x="1975104" y="868680"/>
                </a:lnTo>
                <a:cubicBezTo>
                  <a:pt x="1965960" y="859536"/>
                  <a:pt x="1965960" y="841248"/>
                  <a:pt x="1965960" y="832104"/>
                </a:cubicBezTo>
                <a:lnTo>
                  <a:pt x="1993392" y="822960"/>
                </a:lnTo>
                <a:moveTo>
                  <a:pt x="0" y="941832"/>
                </a:moveTo>
                <a:cubicBezTo>
                  <a:pt x="0" y="932688"/>
                  <a:pt x="0" y="914400"/>
                  <a:pt x="9144" y="905256"/>
                </a:cubicBezTo>
                <a:lnTo>
                  <a:pt x="27432" y="905256"/>
                </a:lnTo>
                <a:cubicBezTo>
                  <a:pt x="27432" y="923544"/>
                  <a:pt x="27432" y="932688"/>
                  <a:pt x="27432" y="941832"/>
                </a:cubicBezTo>
                <a:lnTo>
                  <a:pt x="0" y="941832"/>
                </a:lnTo>
                <a:moveTo>
                  <a:pt x="2002536" y="905256"/>
                </a:moveTo>
                <a:cubicBezTo>
                  <a:pt x="2002536" y="914400"/>
                  <a:pt x="2002536" y="932688"/>
                  <a:pt x="2002536" y="941832"/>
                </a:cubicBezTo>
                <a:lnTo>
                  <a:pt x="1975104" y="941832"/>
                </a:lnTo>
                <a:cubicBezTo>
                  <a:pt x="1975104" y="932688"/>
                  <a:pt x="1975104" y="923544"/>
                  <a:pt x="1975104" y="905256"/>
                </a:cubicBezTo>
                <a:lnTo>
                  <a:pt x="2002536" y="905256"/>
                </a:lnTo>
                <a:moveTo>
                  <a:pt x="0" y="1005840"/>
                </a:moveTo>
                <a:cubicBezTo>
                  <a:pt x="0" y="996696"/>
                  <a:pt x="0" y="987552"/>
                  <a:pt x="0" y="987552"/>
                </a:cubicBezTo>
                <a:lnTo>
                  <a:pt x="27432" y="987552"/>
                </a:lnTo>
                <a:cubicBezTo>
                  <a:pt x="27432" y="987552"/>
                  <a:pt x="27432" y="996696"/>
                  <a:pt x="27432" y="1005840"/>
                </a:cubicBezTo>
                <a:cubicBezTo>
                  <a:pt x="27432" y="1005840"/>
                  <a:pt x="27432" y="1014984"/>
                  <a:pt x="27432" y="1024128"/>
                </a:cubicBezTo>
                <a:lnTo>
                  <a:pt x="0" y="1024128"/>
                </a:lnTo>
                <a:cubicBezTo>
                  <a:pt x="0" y="1014984"/>
                  <a:pt x="0" y="1005840"/>
                  <a:pt x="0" y="1005840"/>
                </a:cubicBezTo>
                <a:moveTo>
                  <a:pt x="2002536" y="987552"/>
                </a:moveTo>
                <a:cubicBezTo>
                  <a:pt x="2002536" y="987552"/>
                  <a:pt x="2002536" y="996696"/>
                  <a:pt x="2002536" y="1005840"/>
                </a:cubicBezTo>
                <a:cubicBezTo>
                  <a:pt x="2002536" y="1005840"/>
                  <a:pt x="2002536" y="1014984"/>
                  <a:pt x="2002536" y="1024128"/>
                </a:cubicBezTo>
                <a:lnTo>
                  <a:pt x="1984248" y="1024128"/>
                </a:lnTo>
                <a:cubicBezTo>
                  <a:pt x="1984248" y="1014984"/>
                  <a:pt x="1984248" y="1005840"/>
                  <a:pt x="1984248" y="1005840"/>
                </a:cubicBezTo>
                <a:cubicBezTo>
                  <a:pt x="1984248" y="996696"/>
                  <a:pt x="1984248" y="987552"/>
                  <a:pt x="1984248" y="987552"/>
                </a:cubicBezTo>
                <a:lnTo>
                  <a:pt x="2002536" y="987552"/>
                </a:lnTo>
                <a:moveTo>
                  <a:pt x="9144" y="1097280"/>
                </a:moveTo>
                <a:cubicBezTo>
                  <a:pt x="0" y="1088136"/>
                  <a:pt x="0" y="1078992"/>
                  <a:pt x="0" y="1060704"/>
                </a:cubicBezTo>
                <a:lnTo>
                  <a:pt x="27432" y="1060704"/>
                </a:lnTo>
                <a:cubicBezTo>
                  <a:pt x="27432" y="1069848"/>
                  <a:pt x="27432" y="1088136"/>
                  <a:pt x="27432" y="1097280"/>
                </a:cubicBezTo>
                <a:lnTo>
                  <a:pt x="9144" y="1097280"/>
                </a:lnTo>
                <a:moveTo>
                  <a:pt x="2002536" y="1060704"/>
                </a:moveTo>
                <a:cubicBezTo>
                  <a:pt x="2002536" y="1078992"/>
                  <a:pt x="2002536" y="1088136"/>
                  <a:pt x="2002536" y="1097280"/>
                </a:cubicBezTo>
                <a:lnTo>
                  <a:pt x="1975104" y="1097280"/>
                </a:lnTo>
                <a:cubicBezTo>
                  <a:pt x="1975104" y="1088136"/>
                  <a:pt x="1975104" y="1069848"/>
                  <a:pt x="1975104" y="1060704"/>
                </a:cubicBezTo>
                <a:lnTo>
                  <a:pt x="2002536" y="1060704"/>
                </a:lnTo>
                <a:moveTo>
                  <a:pt x="18288" y="1179576"/>
                </a:moveTo>
                <a:cubicBezTo>
                  <a:pt x="9144" y="1170432"/>
                  <a:pt x="9144" y="1152144"/>
                  <a:pt x="9144" y="1143000"/>
                </a:cubicBezTo>
                <a:lnTo>
                  <a:pt x="36576" y="1133856"/>
                </a:lnTo>
                <a:cubicBezTo>
                  <a:pt x="36576" y="1152144"/>
                  <a:pt x="36576" y="1161288"/>
                  <a:pt x="36576" y="1179576"/>
                </a:cubicBezTo>
                <a:lnTo>
                  <a:pt x="18288" y="1179576"/>
                </a:lnTo>
                <a:moveTo>
                  <a:pt x="1993392" y="1143000"/>
                </a:moveTo>
                <a:cubicBezTo>
                  <a:pt x="1993392" y="1152144"/>
                  <a:pt x="1993392" y="1170432"/>
                  <a:pt x="1993392" y="1179576"/>
                </a:cubicBezTo>
                <a:lnTo>
                  <a:pt x="1965960" y="1179576"/>
                </a:lnTo>
                <a:cubicBezTo>
                  <a:pt x="1965960" y="1161288"/>
                  <a:pt x="1965960" y="1152144"/>
                  <a:pt x="1975104" y="1133856"/>
                </a:cubicBezTo>
                <a:lnTo>
                  <a:pt x="1993392" y="1143000"/>
                </a:lnTo>
                <a:moveTo>
                  <a:pt x="36576" y="1252728"/>
                </a:moveTo>
                <a:cubicBezTo>
                  <a:pt x="27432" y="1243584"/>
                  <a:pt x="27432" y="1234440"/>
                  <a:pt x="27432" y="1216152"/>
                </a:cubicBezTo>
                <a:lnTo>
                  <a:pt x="45720" y="1216152"/>
                </a:lnTo>
                <a:cubicBezTo>
                  <a:pt x="54864" y="1225296"/>
                  <a:pt x="54864" y="1234440"/>
                  <a:pt x="54864" y="1252728"/>
                </a:cubicBezTo>
                <a:lnTo>
                  <a:pt x="36576" y="1252728"/>
                </a:lnTo>
                <a:moveTo>
                  <a:pt x="1984248" y="1216152"/>
                </a:moveTo>
                <a:cubicBezTo>
                  <a:pt x="1984248" y="1234440"/>
                  <a:pt x="1975104" y="1243584"/>
                  <a:pt x="1975104" y="1252728"/>
                </a:cubicBezTo>
                <a:lnTo>
                  <a:pt x="1947672" y="1252728"/>
                </a:lnTo>
                <a:cubicBezTo>
                  <a:pt x="1956816" y="1234440"/>
                  <a:pt x="1956816" y="1225296"/>
                  <a:pt x="1956816" y="1216152"/>
                </a:cubicBezTo>
                <a:lnTo>
                  <a:pt x="1984248" y="1216152"/>
                </a:lnTo>
                <a:moveTo>
                  <a:pt x="54864" y="1335024"/>
                </a:moveTo>
                <a:cubicBezTo>
                  <a:pt x="54864" y="1316736"/>
                  <a:pt x="45720" y="1307592"/>
                  <a:pt x="45720" y="1298448"/>
                </a:cubicBezTo>
                <a:lnTo>
                  <a:pt x="64008" y="1289304"/>
                </a:lnTo>
                <a:cubicBezTo>
                  <a:pt x="73152" y="1298448"/>
                  <a:pt x="73152" y="1307592"/>
                  <a:pt x="82296" y="1325880"/>
                </a:cubicBezTo>
                <a:lnTo>
                  <a:pt x="54864" y="1335024"/>
                </a:lnTo>
                <a:moveTo>
                  <a:pt x="1965960" y="1298448"/>
                </a:moveTo>
                <a:cubicBezTo>
                  <a:pt x="1956816" y="1307592"/>
                  <a:pt x="1956816" y="1316736"/>
                  <a:pt x="1947672" y="1335024"/>
                </a:cubicBezTo>
                <a:lnTo>
                  <a:pt x="1929384" y="1325880"/>
                </a:lnTo>
                <a:cubicBezTo>
                  <a:pt x="1929384" y="1307592"/>
                  <a:pt x="1938528" y="1298448"/>
                  <a:pt x="1938528" y="1289304"/>
                </a:cubicBezTo>
                <a:lnTo>
                  <a:pt x="1965960" y="1298448"/>
                </a:lnTo>
                <a:moveTo>
                  <a:pt x="82296" y="1408176"/>
                </a:moveTo>
                <a:cubicBezTo>
                  <a:pt x="82296" y="1389888"/>
                  <a:pt x="73152" y="1380744"/>
                  <a:pt x="73152" y="1371600"/>
                </a:cubicBezTo>
                <a:lnTo>
                  <a:pt x="91440" y="1362456"/>
                </a:lnTo>
                <a:cubicBezTo>
                  <a:pt x="100584" y="1371600"/>
                  <a:pt x="100584" y="1380744"/>
                  <a:pt x="109728" y="1399032"/>
                </a:cubicBezTo>
                <a:lnTo>
                  <a:pt x="82296" y="1408176"/>
                </a:lnTo>
                <a:moveTo>
                  <a:pt x="1938528" y="1371600"/>
                </a:moveTo>
                <a:cubicBezTo>
                  <a:pt x="1929384" y="1380744"/>
                  <a:pt x="1929384" y="1389888"/>
                  <a:pt x="1920240" y="1408176"/>
                </a:cubicBezTo>
                <a:lnTo>
                  <a:pt x="1901952" y="1399032"/>
                </a:lnTo>
                <a:cubicBezTo>
                  <a:pt x="1901952" y="1380744"/>
                  <a:pt x="1911096" y="1371600"/>
                  <a:pt x="1911096" y="1362456"/>
                </a:cubicBezTo>
                <a:lnTo>
                  <a:pt x="1938528" y="1371600"/>
                </a:lnTo>
                <a:moveTo>
                  <a:pt x="118872" y="1472184"/>
                </a:moveTo>
                <a:cubicBezTo>
                  <a:pt x="109728" y="1463040"/>
                  <a:pt x="109728" y="1453896"/>
                  <a:pt x="100584" y="1444752"/>
                </a:cubicBezTo>
                <a:lnTo>
                  <a:pt x="118872" y="1426464"/>
                </a:lnTo>
                <a:cubicBezTo>
                  <a:pt x="128016" y="1444752"/>
                  <a:pt x="137160" y="1453896"/>
                  <a:pt x="137160" y="1463040"/>
                </a:cubicBezTo>
                <a:lnTo>
                  <a:pt x="118872" y="1472184"/>
                </a:lnTo>
                <a:moveTo>
                  <a:pt x="1901952" y="1444752"/>
                </a:moveTo>
                <a:cubicBezTo>
                  <a:pt x="1901952" y="1453896"/>
                  <a:pt x="1892808" y="1463040"/>
                  <a:pt x="1892808" y="1472184"/>
                </a:cubicBezTo>
                <a:lnTo>
                  <a:pt x="1865376" y="1463040"/>
                </a:lnTo>
                <a:cubicBezTo>
                  <a:pt x="1874520" y="1453896"/>
                  <a:pt x="1874520" y="1444752"/>
                  <a:pt x="1883664" y="1426464"/>
                </a:cubicBezTo>
                <a:lnTo>
                  <a:pt x="1901952" y="1444752"/>
                </a:lnTo>
                <a:moveTo>
                  <a:pt x="155448" y="1545336"/>
                </a:moveTo>
                <a:cubicBezTo>
                  <a:pt x="155448" y="1536192"/>
                  <a:pt x="146304" y="1517904"/>
                  <a:pt x="137160" y="1508760"/>
                </a:cubicBezTo>
                <a:lnTo>
                  <a:pt x="155448" y="1499616"/>
                </a:lnTo>
                <a:cubicBezTo>
                  <a:pt x="164592" y="1508760"/>
                  <a:pt x="173736" y="1517904"/>
                  <a:pt x="182880" y="1527048"/>
                </a:cubicBezTo>
                <a:lnTo>
                  <a:pt x="155448" y="1545336"/>
                </a:lnTo>
                <a:moveTo>
                  <a:pt x="1865376" y="1508760"/>
                </a:moveTo>
                <a:cubicBezTo>
                  <a:pt x="1865376" y="1517904"/>
                  <a:pt x="1856232" y="1536192"/>
                  <a:pt x="1847088" y="1545336"/>
                </a:cubicBezTo>
                <a:lnTo>
                  <a:pt x="1828800" y="1527048"/>
                </a:lnTo>
                <a:cubicBezTo>
                  <a:pt x="1837944" y="1517904"/>
                  <a:pt x="1837944" y="1508760"/>
                  <a:pt x="1847088" y="1499616"/>
                </a:cubicBezTo>
                <a:lnTo>
                  <a:pt x="1865376" y="1508760"/>
                </a:lnTo>
                <a:moveTo>
                  <a:pt x="201168" y="1609344"/>
                </a:moveTo>
                <a:cubicBezTo>
                  <a:pt x="192024" y="1600200"/>
                  <a:pt x="192024" y="1591056"/>
                  <a:pt x="182880" y="1572768"/>
                </a:cubicBezTo>
                <a:lnTo>
                  <a:pt x="201168" y="1563624"/>
                </a:lnTo>
                <a:cubicBezTo>
                  <a:pt x="210312" y="1572768"/>
                  <a:pt x="219456" y="1581912"/>
                  <a:pt x="219456" y="1591056"/>
                </a:cubicBezTo>
                <a:lnTo>
                  <a:pt x="201168" y="1609344"/>
                </a:lnTo>
                <a:moveTo>
                  <a:pt x="1828800" y="1572768"/>
                </a:moveTo>
                <a:cubicBezTo>
                  <a:pt x="1819656" y="1591056"/>
                  <a:pt x="1810512" y="1600200"/>
                  <a:pt x="1801368" y="1609344"/>
                </a:cubicBezTo>
                <a:lnTo>
                  <a:pt x="1783080" y="1591056"/>
                </a:lnTo>
                <a:cubicBezTo>
                  <a:pt x="1792224" y="1581912"/>
                  <a:pt x="1801368" y="1572768"/>
                  <a:pt x="1801368" y="1563624"/>
                </a:cubicBezTo>
                <a:lnTo>
                  <a:pt x="1828800" y="1572768"/>
                </a:lnTo>
                <a:moveTo>
                  <a:pt x="1783080" y="1636776"/>
                </a:moveTo>
                <a:cubicBezTo>
                  <a:pt x="1773936" y="1645920"/>
                  <a:pt x="1764792" y="1664208"/>
                  <a:pt x="1755648" y="1673352"/>
                </a:cubicBezTo>
                <a:lnTo>
                  <a:pt x="1737360" y="1655064"/>
                </a:lnTo>
                <a:cubicBezTo>
                  <a:pt x="1746504" y="1645920"/>
                  <a:pt x="1755648" y="1636776"/>
                  <a:pt x="1755648" y="1627632"/>
                </a:cubicBezTo>
                <a:lnTo>
                  <a:pt x="1783080" y="1636776"/>
                </a:lnTo>
                <a:moveTo>
                  <a:pt x="256032" y="1673352"/>
                </a:moveTo>
                <a:cubicBezTo>
                  <a:pt x="246888" y="1664208"/>
                  <a:pt x="237744" y="1645920"/>
                  <a:pt x="228600" y="1636776"/>
                </a:cubicBezTo>
                <a:lnTo>
                  <a:pt x="246888" y="1627632"/>
                </a:lnTo>
                <a:cubicBezTo>
                  <a:pt x="256032" y="1636776"/>
                  <a:pt x="265176" y="1645920"/>
                  <a:pt x="274320" y="1655064"/>
                </a:cubicBezTo>
                <a:lnTo>
                  <a:pt x="256032" y="1673352"/>
                </a:lnTo>
                <a:moveTo>
                  <a:pt x="1728216" y="1700784"/>
                </a:moveTo>
                <a:cubicBezTo>
                  <a:pt x="1719072" y="1709928"/>
                  <a:pt x="1709928" y="1719072"/>
                  <a:pt x="1700784" y="1728216"/>
                </a:cubicBezTo>
                <a:lnTo>
                  <a:pt x="1682496" y="1709928"/>
                </a:lnTo>
                <a:cubicBezTo>
                  <a:pt x="1691640" y="1700784"/>
                  <a:pt x="1700784" y="1691640"/>
                  <a:pt x="1709928" y="1682496"/>
                </a:cubicBezTo>
                <a:lnTo>
                  <a:pt x="1728216" y="1700784"/>
                </a:lnTo>
                <a:moveTo>
                  <a:pt x="310896" y="1728216"/>
                </a:moveTo>
                <a:cubicBezTo>
                  <a:pt x="301752" y="1719072"/>
                  <a:pt x="292608" y="1709928"/>
                  <a:pt x="283464" y="1700784"/>
                </a:cubicBezTo>
                <a:lnTo>
                  <a:pt x="301752" y="1682496"/>
                </a:lnTo>
                <a:cubicBezTo>
                  <a:pt x="310896" y="1691640"/>
                  <a:pt x="320040" y="1700784"/>
                  <a:pt x="329184" y="1709928"/>
                </a:cubicBezTo>
                <a:lnTo>
                  <a:pt x="310896" y="1728216"/>
                </a:lnTo>
                <a:moveTo>
                  <a:pt x="365760" y="1783080"/>
                </a:moveTo>
                <a:cubicBezTo>
                  <a:pt x="356616" y="1773936"/>
                  <a:pt x="347472" y="1764792"/>
                  <a:pt x="338328" y="1755648"/>
                </a:cubicBezTo>
                <a:lnTo>
                  <a:pt x="356616" y="1737360"/>
                </a:lnTo>
                <a:cubicBezTo>
                  <a:pt x="365760" y="1746504"/>
                  <a:pt x="374904" y="1755648"/>
                  <a:pt x="384048" y="1755648"/>
                </a:cubicBezTo>
                <a:lnTo>
                  <a:pt x="365760" y="1783080"/>
                </a:lnTo>
                <a:moveTo>
                  <a:pt x="1673352" y="1755648"/>
                </a:moveTo>
                <a:cubicBezTo>
                  <a:pt x="1664208" y="1764792"/>
                  <a:pt x="1645920" y="1773936"/>
                  <a:pt x="1636776" y="1783080"/>
                </a:cubicBezTo>
                <a:lnTo>
                  <a:pt x="1627632" y="1755648"/>
                </a:lnTo>
                <a:cubicBezTo>
                  <a:pt x="1636776" y="1755648"/>
                  <a:pt x="1645920" y="1746504"/>
                  <a:pt x="1655064" y="1737360"/>
                </a:cubicBezTo>
                <a:lnTo>
                  <a:pt x="1673352" y="1755648"/>
                </a:lnTo>
                <a:moveTo>
                  <a:pt x="429768" y="1828800"/>
                </a:moveTo>
                <a:cubicBezTo>
                  <a:pt x="420624" y="1819656"/>
                  <a:pt x="411480" y="1810512"/>
                  <a:pt x="393192" y="1801368"/>
                </a:cubicBezTo>
                <a:lnTo>
                  <a:pt x="411480" y="1783080"/>
                </a:lnTo>
                <a:cubicBezTo>
                  <a:pt x="420624" y="1792224"/>
                  <a:pt x="429768" y="1801368"/>
                  <a:pt x="448056" y="1801368"/>
                </a:cubicBezTo>
                <a:lnTo>
                  <a:pt x="429768" y="1828800"/>
                </a:lnTo>
                <a:moveTo>
                  <a:pt x="1609344" y="1801368"/>
                </a:moveTo>
                <a:cubicBezTo>
                  <a:pt x="1600200" y="1810512"/>
                  <a:pt x="1591056" y="1819656"/>
                  <a:pt x="1572768" y="1828800"/>
                </a:cubicBezTo>
                <a:lnTo>
                  <a:pt x="1563624" y="1801368"/>
                </a:lnTo>
                <a:cubicBezTo>
                  <a:pt x="1572768" y="1801368"/>
                  <a:pt x="1581912" y="1792224"/>
                  <a:pt x="1591056" y="1783080"/>
                </a:cubicBezTo>
                <a:lnTo>
                  <a:pt x="1609344" y="1801368"/>
                </a:lnTo>
                <a:moveTo>
                  <a:pt x="493776" y="1865376"/>
                </a:moveTo>
                <a:cubicBezTo>
                  <a:pt x="484632" y="1865376"/>
                  <a:pt x="475488" y="1856232"/>
                  <a:pt x="466344" y="1847088"/>
                </a:cubicBezTo>
                <a:lnTo>
                  <a:pt x="475488" y="1828800"/>
                </a:lnTo>
                <a:cubicBezTo>
                  <a:pt x="484632" y="1837944"/>
                  <a:pt x="493776" y="1837944"/>
                  <a:pt x="512064" y="1847088"/>
                </a:cubicBezTo>
                <a:lnTo>
                  <a:pt x="493776" y="1865376"/>
                </a:lnTo>
                <a:moveTo>
                  <a:pt x="1545336" y="1847088"/>
                </a:moveTo>
                <a:cubicBezTo>
                  <a:pt x="1536192" y="1856232"/>
                  <a:pt x="1517904" y="1865376"/>
                  <a:pt x="1508760" y="1865376"/>
                </a:cubicBezTo>
                <a:lnTo>
                  <a:pt x="1499616" y="1847088"/>
                </a:lnTo>
                <a:cubicBezTo>
                  <a:pt x="1508760" y="1837944"/>
                  <a:pt x="1517904" y="1837944"/>
                  <a:pt x="1527048" y="1828800"/>
                </a:cubicBezTo>
                <a:lnTo>
                  <a:pt x="1545336" y="1847088"/>
                </a:lnTo>
                <a:moveTo>
                  <a:pt x="566928" y="1901952"/>
                </a:moveTo>
                <a:cubicBezTo>
                  <a:pt x="557784" y="1901952"/>
                  <a:pt x="539496" y="1892808"/>
                  <a:pt x="530352" y="1892808"/>
                </a:cubicBezTo>
                <a:lnTo>
                  <a:pt x="539496" y="1865376"/>
                </a:lnTo>
                <a:cubicBezTo>
                  <a:pt x="557784" y="1874520"/>
                  <a:pt x="566928" y="1874520"/>
                  <a:pt x="576072" y="1883664"/>
                </a:cubicBezTo>
                <a:lnTo>
                  <a:pt x="566928" y="1901952"/>
                </a:lnTo>
                <a:moveTo>
                  <a:pt x="1472184" y="1892808"/>
                </a:moveTo>
                <a:cubicBezTo>
                  <a:pt x="1463040" y="1892808"/>
                  <a:pt x="1453896" y="1901952"/>
                  <a:pt x="1444752" y="1901952"/>
                </a:cubicBezTo>
                <a:lnTo>
                  <a:pt x="1426464" y="1883664"/>
                </a:lnTo>
                <a:cubicBezTo>
                  <a:pt x="1444752" y="1874520"/>
                  <a:pt x="1453896" y="1874520"/>
                  <a:pt x="1463040" y="1865376"/>
                </a:cubicBezTo>
                <a:lnTo>
                  <a:pt x="1472184" y="1892808"/>
                </a:lnTo>
                <a:moveTo>
                  <a:pt x="640080" y="1938528"/>
                </a:moveTo>
                <a:cubicBezTo>
                  <a:pt x="621792" y="1929384"/>
                  <a:pt x="612648" y="1929384"/>
                  <a:pt x="603504" y="1920240"/>
                </a:cubicBezTo>
                <a:lnTo>
                  <a:pt x="612648" y="1901952"/>
                </a:lnTo>
                <a:cubicBezTo>
                  <a:pt x="621792" y="1901952"/>
                  <a:pt x="630936" y="1911096"/>
                  <a:pt x="649224" y="1911096"/>
                </a:cubicBezTo>
                <a:lnTo>
                  <a:pt x="640080" y="1938528"/>
                </a:lnTo>
                <a:moveTo>
                  <a:pt x="1408176" y="1920240"/>
                </a:moveTo>
                <a:cubicBezTo>
                  <a:pt x="1389888" y="1929384"/>
                  <a:pt x="1380744" y="1929384"/>
                  <a:pt x="1371600" y="1938528"/>
                </a:cubicBezTo>
                <a:lnTo>
                  <a:pt x="1362456" y="1911096"/>
                </a:lnTo>
                <a:cubicBezTo>
                  <a:pt x="1371600" y="1911096"/>
                  <a:pt x="1380744" y="1901952"/>
                  <a:pt x="1399032" y="1901952"/>
                </a:cubicBezTo>
                <a:lnTo>
                  <a:pt x="1408176" y="1920240"/>
                </a:lnTo>
                <a:moveTo>
                  <a:pt x="713232" y="1965960"/>
                </a:moveTo>
                <a:cubicBezTo>
                  <a:pt x="694944" y="1956816"/>
                  <a:pt x="685800" y="1956816"/>
                  <a:pt x="676656" y="1947672"/>
                </a:cubicBezTo>
                <a:lnTo>
                  <a:pt x="685800" y="1929384"/>
                </a:lnTo>
                <a:cubicBezTo>
                  <a:pt x="694944" y="1929384"/>
                  <a:pt x="704088" y="1938528"/>
                  <a:pt x="722376" y="1938528"/>
                </a:cubicBezTo>
                <a:lnTo>
                  <a:pt x="713232" y="1965960"/>
                </a:lnTo>
                <a:moveTo>
                  <a:pt x="1335024" y="1947672"/>
                </a:moveTo>
                <a:cubicBezTo>
                  <a:pt x="1316736" y="1956816"/>
                  <a:pt x="1307592" y="1956816"/>
                  <a:pt x="1298448" y="1965960"/>
                </a:cubicBezTo>
                <a:lnTo>
                  <a:pt x="1289304" y="1938528"/>
                </a:lnTo>
                <a:cubicBezTo>
                  <a:pt x="1298448" y="1938528"/>
                  <a:pt x="1307592" y="1929384"/>
                  <a:pt x="1325880" y="1929384"/>
                </a:cubicBezTo>
                <a:lnTo>
                  <a:pt x="1335024" y="1947672"/>
                </a:lnTo>
                <a:moveTo>
                  <a:pt x="786384" y="1984248"/>
                </a:moveTo>
                <a:cubicBezTo>
                  <a:pt x="777240" y="1984248"/>
                  <a:pt x="758952" y="1975104"/>
                  <a:pt x="749808" y="1975104"/>
                </a:cubicBezTo>
                <a:lnTo>
                  <a:pt x="758952" y="1947672"/>
                </a:lnTo>
                <a:cubicBezTo>
                  <a:pt x="768096" y="1956816"/>
                  <a:pt x="777240" y="1956816"/>
                  <a:pt x="795528" y="1956816"/>
                </a:cubicBezTo>
                <a:lnTo>
                  <a:pt x="786384" y="1984248"/>
                </a:lnTo>
                <a:moveTo>
                  <a:pt x="1252728" y="1975104"/>
                </a:moveTo>
                <a:cubicBezTo>
                  <a:pt x="1243584" y="1975104"/>
                  <a:pt x="1234440" y="1984248"/>
                  <a:pt x="1216152" y="1984248"/>
                </a:cubicBezTo>
                <a:lnTo>
                  <a:pt x="1216152" y="1956816"/>
                </a:lnTo>
                <a:cubicBezTo>
                  <a:pt x="1225296" y="1956816"/>
                  <a:pt x="1234440" y="1956816"/>
                  <a:pt x="1252728" y="1947672"/>
                </a:cubicBezTo>
                <a:lnTo>
                  <a:pt x="1252728" y="1975104"/>
                </a:lnTo>
                <a:moveTo>
                  <a:pt x="868680" y="1993392"/>
                </a:moveTo>
                <a:cubicBezTo>
                  <a:pt x="850392" y="1993392"/>
                  <a:pt x="841248" y="1993392"/>
                  <a:pt x="822960" y="1993392"/>
                </a:cubicBezTo>
                <a:lnTo>
                  <a:pt x="832104" y="1965960"/>
                </a:lnTo>
                <a:cubicBezTo>
                  <a:pt x="841248" y="1965960"/>
                  <a:pt x="859536" y="1965960"/>
                  <a:pt x="868680" y="1975104"/>
                </a:cubicBezTo>
                <a:lnTo>
                  <a:pt x="868680" y="1993392"/>
                </a:lnTo>
                <a:moveTo>
                  <a:pt x="1179576" y="1993392"/>
                </a:moveTo>
                <a:cubicBezTo>
                  <a:pt x="1170432" y="1993392"/>
                  <a:pt x="1152144" y="1993392"/>
                  <a:pt x="1143000" y="1993392"/>
                </a:cubicBezTo>
                <a:lnTo>
                  <a:pt x="1133856" y="1975104"/>
                </a:lnTo>
                <a:cubicBezTo>
                  <a:pt x="1152144" y="1965960"/>
                  <a:pt x="1161288" y="1965960"/>
                  <a:pt x="1179576" y="1965960"/>
                </a:cubicBezTo>
                <a:lnTo>
                  <a:pt x="1179576" y="1993392"/>
                </a:lnTo>
                <a:moveTo>
                  <a:pt x="941832" y="2002536"/>
                </a:moveTo>
                <a:cubicBezTo>
                  <a:pt x="932688" y="2002536"/>
                  <a:pt x="914400" y="2002536"/>
                  <a:pt x="905256" y="2002536"/>
                </a:cubicBezTo>
                <a:lnTo>
                  <a:pt x="905256" y="1975104"/>
                </a:lnTo>
                <a:cubicBezTo>
                  <a:pt x="923544" y="1975104"/>
                  <a:pt x="932688" y="1975104"/>
                  <a:pt x="941832" y="1975104"/>
                </a:cubicBezTo>
                <a:lnTo>
                  <a:pt x="941832" y="2002536"/>
                </a:lnTo>
                <a:moveTo>
                  <a:pt x="1097280" y="2002536"/>
                </a:moveTo>
                <a:cubicBezTo>
                  <a:pt x="1088136" y="2002536"/>
                  <a:pt x="1078992" y="2002536"/>
                  <a:pt x="1060704" y="2002536"/>
                </a:cubicBezTo>
                <a:lnTo>
                  <a:pt x="1060704" y="1975104"/>
                </a:lnTo>
                <a:cubicBezTo>
                  <a:pt x="1069848" y="1975104"/>
                  <a:pt x="1088136" y="1975104"/>
                  <a:pt x="1097280" y="1975104"/>
                </a:cubicBezTo>
                <a:lnTo>
                  <a:pt x="1097280" y="2002536"/>
                </a:lnTo>
                <a:moveTo>
                  <a:pt x="1005840" y="2002536"/>
                </a:moveTo>
                <a:cubicBezTo>
                  <a:pt x="996696" y="2002536"/>
                  <a:pt x="987552" y="2002536"/>
                  <a:pt x="987552" y="2002536"/>
                </a:cubicBezTo>
                <a:lnTo>
                  <a:pt x="987552" y="1984248"/>
                </a:lnTo>
                <a:cubicBezTo>
                  <a:pt x="987552" y="1984248"/>
                  <a:pt x="996696" y="1984248"/>
                  <a:pt x="1005840" y="1984248"/>
                </a:cubicBezTo>
                <a:cubicBezTo>
                  <a:pt x="1005840" y="1984248"/>
                  <a:pt x="1014984" y="1984248"/>
                  <a:pt x="1024128" y="1984248"/>
                </a:cubicBezTo>
                <a:lnTo>
                  <a:pt x="1024128" y="2002536"/>
                </a:lnTo>
                <a:cubicBezTo>
                  <a:pt x="1014984" y="2002536"/>
                  <a:pt x="1005840" y="2002536"/>
                  <a:pt x="1005840" y="2002536"/>
                </a:cubicBezTo>
              </a:path>
            </a:pathLst>
          </a:custGeom>
          <a:solidFill>
            <a:schemeClr val="accent1">
              <a:alpha val="38000"/>
            </a:schemeClr>
          </a:solidFill>
        </p:spPr>
        <p:txBody>
          <a:bodyPr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800" b="1">
                <a:solidFill>
                  <a:schemeClr val="accent1"/>
                </a:solidFill>
                <a:sym typeface="+mn-ea"/>
              </a:rPr>
              <a:t>研究目的</a:t>
            </a:r>
            <a:endParaRPr lang="zh-CN" altLang="en-US" sz="2800" b="1">
              <a:solidFill>
                <a:schemeClr val="accent1"/>
              </a:solidFill>
              <a:sym typeface="+mn-ea"/>
            </a:endParaRPr>
          </a:p>
        </p:txBody>
      </p:sp>
      <p:pic>
        <p:nvPicPr>
          <p:cNvPr id="36" name="图片 16" descr="/data/temp/598b4bc1-220d-44d5-86d0-d69e2febee09/0addc37d-1d3f-11f1-8186-56273b0f4b25.svg0addc37d-1d3f-11f1-8186-56273b0f4b2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3053083" y="1985251"/>
            <a:ext cx="315846" cy="315846"/>
          </a:xfrm>
          <a:prstGeom prst="rect">
            <a:avLst/>
          </a:prstGeom>
        </p:spPr>
      </p:pic>
      <p:pic>
        <p:nvPicPr>
          <p:cNvPr id="37" name="图片 15" descr="/data/temp/598b4bc1-220d-44d5-86d0-d69e2febee09/0addc3d8-1d3f-11f1-8186-56273b0f4b25.svg0addc3d8-1d3f-11f1-8186-56273b0f4b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3751786" y="3285016"/>
            <a:ext cx="316382" cy="316382"/>
          </a:xfrm>
          <a:prstGeom prst="rect">
            <a:avLst/>
          </a:prstGeom>
        </p:spPr>
      </p:pic>
      <p:pic>
        <p:nvPicPr>
          <p:cNvPr id="38" name="图片 19" descr="/data/temp/598b4bc1-220d-44d5-86d0-d69e2febee09/0addc479-1d3f-11f1-8186-56273b0f4b25.svg0addc479-1d3f-11f1-8186-56273b0f4b2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3076542" y="4532790"/>
            <a:ext cx="316382" cy="316382"/>
          </a:xfrm>
          <a:prstGeom prst="rect">
            <a:avLst/>
          </a:prstGeom>
        </p:spPr>
      </p:pic>
      <p:sp>
        <p:nvSpPr>
          <p:cNvPr id="39" name="矩形 38"/>
          <p:cNvSpPr/>
          <p:nvPr>
            <p:custDataLst>
              <p:tags r:id="rId15"/>
            </p:custDataLst>
          </p:nvPr>
        </p:nvSpPr>
        <p:spPr>
          <a:xfrm>
            <a:off x="5030627" y="4523914"/>
            <a:ext cx="6547645" cy="135936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评估模型在病灶水平和病人水平的预测能力，给临床用提供依据</a:t>
            </a:r>
            <a:endParaRPr lang="zh-CN" altLang="en-US" sz="280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40" name="矩形 39"/>
          <p:cNvSpPr/>
          <p:nvPr>
            <p:custDataLst>
              <p:tags r:id="rId16"/>
            </p:custDataLst>
          </p:nvPr>
        </p:nvSpPr>
        <p:spPr>
          <a:xfrm>
            <a:off x="5030627" y="975358"/>
            <a:ext cx="6547645" cy="13593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构建并验证基于</a:t>
            </a:r>
            <a:r>
              <a:rPr lang="en-US" altLang="zh-CN" sz="2800" u="sng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MRI</a:t>
            </a:r>
            <a:r>
              <a:rPr lang="zh-CN" altLang="en-US" sz="2800" b="1" u="sng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动态</a:t>
            </a:r>
            <a:r>
              <a:rPr lang="en-US" altLang="zh-CN" sz="2800" b="1" u="sng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delta</a:t>
            </a:r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影像组学的模型，预测肝癌转化治疗后的</a:t>
            </a:r>
            <a:r>
              <a:rPr lang="en-US" altLang="zh-CN" sz="28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pCR</a:t>
            </a:r>
            <a:endParaRPr lang="en-US" altLang="zh-CN" sz="280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矩形 40"/>
          <p:cNvSpPr/>
          <p:nvPr>
            <p:custDataLst>
              <p:tags r:id="rId17"/>
            </p:custDataLst>
          </p:nvPr>
        </p:nvSpPr>
        <p:spPr>
          <a:xfrm>
            <a:off x="5080157" y="2780751"/>
            <a:ext cx="6547645" cy="13593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探索结合</a:t>
            </a:r>
            <a:r>
              <a:rPr lang="zh-CN" altLang="en-US" sz="2800" b="1" u="sng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AFP动态变化</a:t>
            </a:r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，能不能进一步提升模型的预测准确性</a:t>
            </a:r>
            <a:endParaRPr lang="zh-CN" altLang="en-US" sz="280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42" name="任意多边形: 形状 88"/>
          <p:cNvSpPr/>
          <p:nvPr>
            <p:custDataLst>
              <p:tags r:id="rId18"/>
            </p:custDataLst>
          </p:nvPr>
        </p:nvSpPr>
        <p:spPr>
          <a:xfrm>
            <a:off x="3705501" y="1595322"/>
            <a:ext cx="1162180" cy="236494"/>
          </a:xfrm>
          <a:custGeom>
            <a:avLst/>
            <a:gdLst>
              <a:gd name="connsiteX0" fmla="*/ 0 w 1833"/>
              <a:gd name="connsiteY0" fmla="*/ 373 h 373"/>
              <a:gd name="connsiteX1" fmla="*/ 288 w 1833"/>
              <a:gd name="connsiteY1" fmla="*/ 0 h 373"/>
              <a:gd name="connsiteX2" fmla="*/ 1833 w 1833"/>
              <a:gd name="connsiteY2" fmla="*/ 0 h 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33" h="373">
                <a:moveTo>
                  <a:pt x="0" y="373"/>
                </a:moveTo>
                <a:lnTo>
                  <a:pt x="288" y="0"/>
                </a:lnTo>
                <a:lnTo>
                  <a:pt x="1833" y="0"/>
                </a:lnTo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cxnSp>
        <p:nvCxnSpPr>
          <p:cNvPr id="43" name="直接连接符 42"/>
          <p:cNvCxnSpPr/>
          <p:nvPr>
            <p:custDataLst>
              <p:tags r:id="rId19"/>
            </p:custDataLst>
          </p:nvPr>
        </p:nvCxnSpPr>
        <p:spPr>
          <a:xfrm>
            <a:off x="4383281" y="3460009"/>
            <a:ext cx="484220" cy="0"/>
          </a:xfrm>
          <a:prstGeom prst="line">
            <a:avLst/>
          </a:prstGeom>
          <a:noFill/>
          <a:ln>
            <a:solidFill>
              <a:schemeClr val="accent2">
                <a:alpha val="7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任意多边形: 形状 5"/>
          <p:cNvSpPr/>
          <p:nvPr>
            <p:custDataLst>
              <p:tags r:id="rId20"/>
            </p:custDataLst>
          </p:nvPr>
        </p:nvSpPr>
        <p:spPr>
          <a:xfrm flipV="1">
            <a:off x="3625613" y="4899261"/>
            <a:ext cx="1242068" cy="346815"/>
          </a:xfrm>
          <a:custGeom>
            <a:avLst/>
            <a:gdLst>
              <a:gd name="connsiteX0" fmla="*/ 0 w 1959"/>
              <a:gd name="connsiteY0" fmla="*/ 547 h 547"/>
              <a:gd name="connsiteX1" fmla="*/ 414 w 1959"/>
              <a:gd name="connsiteY1" fmla="*/ 0 h 547"/>
              <a:gd name="connsiteX2" fmla="*/ 1959 w 1959"/>
              <a:gd name="connsiteY2" fmla="*/ 0 h 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9" h="547">
                <a:moveTo>
                  <a:pt x="0" y="547"/>
                </a:moveTo>
                <a:lnTo>
                  <a:pt x="414" y="0"/>
                </a:lnTo>
                <a:lnTo>
                  <a:pt x="1959" y="0"/>
                </a:lnTo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1976755"/>
            <a:ext cx="278130" cy="29495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913870" y="1953895"/>
            <a:ext cx="278130" cy="29495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788670" y="1296035"/>
            <a:ext cx="4497070" cy="444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788670" y="5680075"/>
            <a:ext cx="105791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6917055" y="1300480"/>
            <a:ext cx="4497070" cy="444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312863" y="753663"/>
            <a:ext cx="5565931" cy="3136170"/>
            <a:chOff x="10262" y="679"/>
            <a:chExt cx="5110" cy="4104"/>
          </a:xfrm>
        </p:grpSpPr>
        <p:sp>
          <p:nvSpPr>
            <p:cNvPr id="20" name="椭圆 19"/>
            <p:cNvSpPr/>
            <p:nvPr/>
          </p:nvSpPr>
          <p:spPr>
            <a:xfrm>
              <a:off x="12291" y="679"/>
              <a:ext cx="1052" cy="1425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438" y="929"/>
              <a:ext cx="757" cy="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Arial Unicode MS" panose="020B0604020202020204" charset="-122"/>
                  <a:ea typeface="Arial Unicode MS" panose="020B0604020202020204" charset="-122"/>
                </a:rPr>
                <a:t>02</a:t>
              </a:r>
              <a:endParaRPr lang="en-US" altLang="zh-CN" sz="4000" b="1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262" y="3576"/>
              <a:ext cx="5110" cy="1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sz="5400">
                  <a:solidFill>
                    <a:schemeClr val="accent1">
                      <a:lumMod val="5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研究材料与</a:t>
              </a:r>
              <a:r>
                <a:rPr lang="zh-CN" altLang="en-US" sz="5400">
                  <a:solidFill>
                    <a:schemeClr val="accent1">
                      <a:lumMod val="5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方法</a:t>
              </a:r>
              <a:endParaRPr lang="zh-CN" altLang="en-US" sz="5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2932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研究材料与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10" y="1505585"/>
            <a:ext cx="5940425" cy="38461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327140" y="842010"/>
            <a:ext cx="5345430" cy="5040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研究数据</a:t>
            </a:r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总样本量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 154例患者（159个病灶）</a:t>
            </a: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训练集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：78例（中山医院）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内部测试集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：32例（中山医院）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外部验证集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：44例（天津肿瘤医院、瑞金医院）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影像数据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：多序列MRI（T2WI、DWI、T1WI、动脉期、门脉期、延迟期等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序列）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临床数据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：AFP、PIVKA-II、肝功能、治疗方案等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病理金标准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pCR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6350"/>
            <a:ext cx="7289800" cy="68453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2932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研究材料与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10" y="1505585"/>
            <a:ext cx="5940425" cy="38461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327140" y="842010"/>
            <a:ext cx="5345430" cy="5040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研究数据</a:t>
            </a:r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总样本量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 154例患者（159个病灶）</a:t>
            </a: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训练集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：78例（中山医院）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内部测试集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：32例（中山医院）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外部验证集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：44例（天津肿瘤医院、瑞金医院）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影像数据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：多序列MRI（T2WI、DWI、T1WI、动脉期、门脉期、延迟期等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序列）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临床数据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：AFP、PIVKA-II、肝功能、治疗方案等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病理金标准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pCR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2932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研究材料与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75655" y="72390"/>
            <a:ext cx="6185535" cy="5087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技术方法</a:t>
            </a:r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数据预处理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：图像配准、归一化、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N4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偏置场校正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肿瘤分割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AI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自动分割</a:t>
            </a:r>
            <a:r>
              <a:rPr lang="en-US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nnU-Net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辅助，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ICC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筛选高重复性特征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特征提取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PyRadiomics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提取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2264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个特征（一阶、形状、纹理等）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delta</a:t>
            </a: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特征计算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：治疗前的特征值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治疗后的特征值，除以治疗前的特征值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特征筛选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ICC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检验、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Spearman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LASSO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和随机森林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模型构建（图</a:t>
            </a:r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S4</a:t>
            </a: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14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种机器学习模型对比，最终选择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MLP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模型评估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AUC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、准确性、敏感性、特异性、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PPV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NPV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、校准曲线、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DCA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endParaRPr lang="en-US" altLang="zh-CN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940" y="1931670"/>
            <a:ext cx="5069205" cy="32283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11225" y="52349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图</a:t>
            </a:r>
            <a:r>
              <a:rPr lang="en-US" altLang="zh-CN"/>
              <a:t>S4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2932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14020" b="81998"/>
          <a:stretch>
            <a:fillRect/>
          </a:stretch>
        </p:blipFill>
        <p:spPr>
          <a:xfrm>
            <a:off x="765810" y="615315"/>
            <a:ext cx="9537065" cy="25139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17500" r="9786"/>
          <a:stretch>
            <a:fillRect/>
          </a:stretch>
        </p:blipFill>
        <p:spPr>
          <a:xfrm>
            <a:off x="1101090" y="2261870"/>
            <a:ext cx="3536315" cy="40722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185410" y="3464560"/>
            <a:ext cx="625602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S3</a:t>
            </a:r>
            <a:endParaRPr lang="zh-CN" altLang="en-US" sz="24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图A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：特征筛选流程图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图B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：独立样本t检验进行特征选择，以识别pCR和非pCR组之间具有显著差异的放射组学特征（p &lt; 0.05）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图C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：Spearman相关性热图∣r∣ ≥ 0.9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图D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：LASSO回归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图E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：随机森林分析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7565" y="6223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图</a:t>
            </a:r>
            <a:r>
              <a:rPr lang="en-US" altLang="zh-CN"/>
              <a:t>S3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1976755"/>
            <a:ext cx="278130" cy="29495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913870" y="1953895"/>
            <a:ext cx="278130" cy="29495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788670" y="1296035"/>
            <a:ext cx="4497070" cy="444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788670" y="5680075"/>
            <a:ext cx="105791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6917055" y="1300480"/>
            <a:ext cx="4497070" cy="444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312863" y="753663"/>
            <a:ext cx="5565931" cy="3136170"/>
            <a:chOff x="10262" y="679"/>
            <a:chExt cx="5110" cy="4104"/>
          </a:xfrm>
        </p:grpSpPr>
        <p:sp>
          <p:nvSpPr>
            <p:cNvPr id="20" name="椭圆 19"/>
            <p:cNvSpPr/>
            <p:nvPr/>
          </p:nvSpPr>
          <p:spPr>
            <a:xfrm>
              <a:off x="12291" y="679"/>
              <a:ext cx="1052" cy="1425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438" y="929"/>
              <a:ext cx="757" cy="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Arial Unicode MS" panose="020B0604020202020204" charset="-122"/>
                  <a:ea typeface="Arial Unicode MS" panose="020B0604020202020204" charset="-122"/>
                </a:rPr>
                <a:t>03</a:t>
              </a:r>
              <a:endParaRPr lang="en-US" altLang="zh-CN" sz="4000" b="1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262" y="3576"/>
              <a:ext cx="5110" cy="1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sz="5400">
                  <a:solidFill>
                    <a:schemeClr val="accent1">
                      <a:lumMod val="5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研究</a:t>
              </a:r>
              <a:r>
                <a:rPr lang="zh-CN" altLang="en-US" sz="5400">
                  <a:solidFill>
                    <a:schemeClr val="accent1">
                      <a:lumMod val="5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结果</a:t>
              </a:r>
              <a:endParaRPr lang="zh-CN" altLang="en-US" sz="5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2932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305" y="718185"/>
            <a:ext cx="5075555" cy="55289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00545" y="1885315"/>
            <a:ext cx="4064000" cy="27381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3A-F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ROC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曲线</a:t>
            </a:r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pCR患者的无复发生存期显著更长，总生存期也有明显优势，说明“实现pCR”是肝癌转化治疗的重要目标，后续预测pCR的模型有重要的临床意义。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7765" y="62471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图</a:t>
            </a:r>
            <a:r>
              <a:rPr lang="en-US" altLang="zh-CN"/>
              <a:t>3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2932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4745" y="4059555"/>
            <a:ext cx="57892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S5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7765" y="36233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Tabl</a:t>
            </a:r>
            <a:r>
              <a:rPr lang="en-US" altLang="zh-CN"/>
              <a:t>e2</a:t>
            </a:r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b="51185"/>
          <a:stretch>
            <a:fillRect/>
          </a:stretch>
        </p:blipFill>
        <p:spPr>
          <a:xfrm>
            <a:off x="408940" y="709295"/>
            <a:ext cx="5415280" cy="29140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235065" y="8007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u="sng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AFP应答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285" y="496570"/>
            <a:ext cx="3205480" cy="106870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35065" y="2641600"/>
            <a:ext cx="60013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u="sng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delta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:放射组学值表示基线和术前扫描之间放射组学特征的变化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 l="2699" t="23810"/>
          <a:stretch>
            <a:fillRect/>
          </a:stretch>
        </p:blipFill>
        <p:spPr>
          <a:xfrm>
            <a:off x="6235065" y="3388995"/>
            <a:ext cx="5768975" cy="67056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" y="3957320"/>
            <a:ext cx="6042660" cy="206502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167765" y="6022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图</a:t>
            </a:r>
            <a:r>
              <a:rPr lang="en-US" altLang="zh-CN"/>
              <a:t>S5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6235065" y="1261110"/>
            <a:ext cx="578929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Table2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单因素和多因素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Logistic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回归分析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——AFP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应答是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pCR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独立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预测因子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0" name="表格 19"/>
          <p:cNvGraphicFramePr/>
          <p:nvPr>
            <p:custDataLst>
              <p:tags r:id="rId5"/>
            </p:custDataLst>
          </p:nvPr>
        </p:nvGraphicFramePr>
        <p:xfrm>
          <a:off x="6343015" y="4533265"/>
          <a:ext cx="5458460" cy="1846580"/>
        </p:xfrm>
        <a:graphic>
          <a:graphicData uri="http://schemas.openxmlformats.org/drawingml/2006/table">
            <a:tbl>
              <a:tblPr/>
              <a:tblGrid>
                <a:gridCol w="1364615"/>
                <a:gridCol w="1364615"/>
                <a:gridCol w="1364615"/>
                <a:gridCol w="1364615"/>
              </a:tblGrid>
              <a:tr h="46164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latin typeface="等线" panose="02010600030101010101" charset="-122"/>
                          <a:ea typeface="等线" panose="02010600030101010101" charset="-122"/>
                        </a:rPr>
                        <a:t>模型</a:t>
                      </a:r>
                      <a:endParaRPr lang="zh-CN" sz="1100" b="1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latin typeface="等线" panose="02010600030101010101" charset="-122"/>
                          <a:ea typeface="等线" panose="02010600030101010101" charset="-122"/>
                        </a:rPr>
                        <a:t>训练集</a:t>
                      </a:r>
                      <a:r>
                        <a:rPr lang="en-US" altLang="zh-CN" sz="1100" b="1">
                          <a:latin typeface="Arial" panose="020B0604020202020204"/>
                          <a:ea typeface="等线" panose="02010600030101010101" charset="-122"/>
                        </a:rPr>
                        <a:t>AUC</a:t>
                      </a:r>
                      <a:endParaRPr lang="en-US" altLang="zh-CN" sz="1100" b="1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latin typeface="等线" panose="02010600030101010101" charset="-122"/>
                          <a:ea typeface="等线" panose="02010600030101010101" charset="-122"/>
                        </a:rPr>
                        <a:t>测试集</a:t>
                      </a:r>
                      <a:r>
                        <a:rPr lang="en-US" altLang="zh-CN" sz="1100" b="1">
                          <a:latin typeface="Arial" panose="020B0604020202020204"/>
                          <a:ea typeface="等线" panose="02010600030101010101" charset="-122"/>
                        </a:rPr>
                        <a:t>AUC</a:t>
                      </a:r>
                      <a:endParaRPr lang="en-US" altLang="zh-CN" sz="1100" b="1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latin typeface="等线" panose="02010600030101010101" charset="-122"/>
                          <a:ea typeface="等线" panose="02010600030101010101" charset="-122"/>
                        </a:rPr>
                        <a:t>外部验证集</a:t>
                      </a:r>
                      <a:r>
                        <a:rPr lang="en-US" altLang="zh-CN" sz="1100" b="1">
                          <a:latin typeface="Arial" panose="020B0604020202020204"/>
                          <a:ea typeface="等线" panose="02010600030101010101" charset="-122"/>
                        </a:rPr>
                        <a:t>AUC</a:t>
                      </a:r>
                      <a:endParaRPr lang="en-US" altLang="zh-CN" sz="1100" b="1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164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latin typeface="等线" panose="02010600030101010101" charset="-122"/>
                          <a:ea typeface="等线" panose="02010600030101010101" charset="-122"/>
                        </a:rPr>
                        <a:t>基线模型</a:t>
                      </a:r>
                      <a:endParaRPr lang="zh-CN" sz="1100" b="1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 b="1">
                          <a:latin typeface="Arial" panose="020B0604020202020204"/>
                          <a:ea typeface="等线" panose="02010600030101010101" charset="-122"/>
                        </a:rPr>
                        <a:t>0.835</a:t>
                      </a:r>
                      <a:endParaRPr lang="en-US" altLang="zh-CN" sz="1100" b="1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 b="1">
                          <a:latin typeface="Arial" panose="020B0604020202020204"/>
                          <a:ea typeface="等线" panose="02010600030101010101" charset="-122"/>
                        </a:rPr>
                        <a:t>0.483</a:t>
                      </a:r>
                      <a:endParaRPr lang="en-US" altLang="zh-CN" sz="1100" b="1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 b="1">
                          <a:latin typeface="Arial" panose="020B0604020202020204"/>
                          <a:ea typeface="等线" panose="02010600030101010101" charset="-122"/>
                        </a:rPr>
                        <a:t>0.434</a:t>
                      </a:r>
                      <a:endParaRPr lang="en-US" altLang="zh-CN" sz="1100" b="1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164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latin typeface="等线" panose="02010600030101010101" charset="-122"/>
                          <a:ea typeface="等线" panose="02010600030101010101" charset="-122"/>
                        </a:rPr>
                        <a:t>术前模型</a:t>
                      </a:r>
                      <a:endParaRPr lang="zh-CN" sz="1100" b="1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 b="1">
                          <a:latin typeface="Arial" panose="020B0604020202020204"/>
                          <a:ea typeface="等线" panose="02010600030101010101" charset="-122"/>
                        </a:rPr>
                        <a:t>0.770</a:t>
                      </a:r>
                      <a:endParaRPr lang="en-US" altLang="zh-CN" sz="1100" b="1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 b="1">
                          <a:latin typeface="Arial" panose="020B0604020202020204"/>
                          <a:ea typeface="等线" panose="02010600030101010101" charset="-122"/>
                        </a:rPr>
                        <a:t>0.685</a:t>
                      </a:r>
                      <a:endParaRPr lang="en-US" altLang="zh-CN" sz="1100" b="1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 b="1">
                          <a:latin typeface="Arial" panose="020B0604020202020204"/>
                          <a:ea typeface="等线" panose="02010600030101010101" charset="-122"/>
                        </a:rPr>
                        <a:t>0.506</a:t>
                      </a:r>
                      <a:endParaRPr lang="en-US" altLang="zh-CN" sz="1100" b="1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164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 b="1">
                          <a:solidFill>
                            <a:srgbClr val="FF0000"/>
                          </a:solidFill>
                          <a:latin typeface="Arial" panose="020B0604020202020204"/>
                          <a:ea typeface="等线" panose="02010600030101010101" charset="-122"/>
                        </a:rPr>
                        <a:t>delta</a:t>
                      </a:r>
                      <a:r>
                        <a:rPr lang="zh-CN" sz="1100" b="1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影像组学模型</a:t>
                      </a:r>
                      <a:endParaRPr lang="zh-CN" sz="1100" b="1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 b="1">
                          <a:solidFill>
                            <a:srgbClr val="FF0000"/>
                          </a:solidFill>
                          <a:latin typeface="Arial" panose="020B0604020202020204"/>
                          <a:ea typeface="等线" panose="02010600030101010101" charset="-122"/>
                        </a:rPr>
                        <a:t>0.879</a:t>
                      </a:r>
                      <a:endParaRPr lang="en-US" altLang="zh-CN" sz="1100" b="1">
                        <a:solidFill>
                          <a:srgbClr val="FF0000"/>
                        </a:solidFill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 b="1">
                          <a:solidFill>
                            <a:srgbClr val="FF0000"/>
                          </a:solidFill>
                          <a:latin typeface="Arial" panose="020B0604020202020204"/>
                          <a:ea typeface="等线" panose="02010600030101010101" charset="-122"/>
                        </a:rPr>
                        <a:t>0.835</a:t>
                      </a:r>
                      <a:endParaRPr lang="en-US" altLang="zh-CN" sz="1100" b="1">
                        <a:solidFill>
                          <a:srgbClr val="FF0000"/>
                        </a:solidFill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 b="1">
                          <a:solidFill>
                            <a:srgbClr val="FF0000"/>
                          </a:solidFill>
                          <a:latin typeface="Arial" panose="020B0604020202020204"/>
                          <a:ea typeface="等线" panose="02010600030101010101" charset="-122"/>
                        </a:rPr>
                        <a:t>0.783</a:t>
                      </a:r>
                      <a:endParaRPr lang="en-US" altLang="zh-CN" sz="1100" b="1">
                        <a:solidFill>
                          <a:srgbClr val="FF0000"/>
                        </a:solidFill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2932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48300" y="933450"/>
            <a:ext cx="5873750" cy="49542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4A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ROC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曲线</a:t>
            </a:r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C-D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测试与验证队列中综合临床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放射组学模型的混淆矩阵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E-F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DCA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（决策曲线分析）展示综合模型在测试与验证队列中的临床效用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940" y="636270"/>
            <a:ext cx="4929505" cy="58820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41375" y="6489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图</a:t>
            </a:r>
            <a:r>
              <a:rPr lang="en-US" altLang="zh-CN"/>
              <a:t>4</a:t>
            </a:r>
            <a:endParaRPr lang="en-US" altLang="zh-CN"/>
          </a:p>
        </p:txBody>
      </p:sp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5655310" y="1520190"/>
          <a:ext cx="5459730" cy="2413000"/>
        </p:xfrm>
        <a:graphic>
          <a:graphicData uri="http://schemas.openxmlformats.org/drawingml/2006/table">
            <a:tbl>
              <a:tblPr/>
              <a:tblGrid>
                <a:gridCol w="1819910"/>
                <a:gridCol w="1819910"/>
                <a:gridCol w="1819910"/>
              </a:tblGrid>
              <a:tr h="56515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>
                          <a:latin typeface="等线" panose="02010600030101010101" charset="-122"/>
                          <a:ea typeface="等线" panose="02010600030101010101" charset="-122"/>
                        </a:rPr>
                        <a:t>模型</a:t>
                      </a:r>
                      <a:endParaRPr lang="zh-CN" sz="16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>
                          <a:latin typeface="等线" panose="02010600030101010101" charset="-122"/>
                          <a:ea typeface="等线" panose="02010600030101010101" charset="-122"/>
                        </a:rPr>
                        <a:t>测试集</a:t>
                      </a:r>
                      <a:r>
                        <a:rPr lang="en-US" altLang="zh-CN" sz="1600">
                          <a:latin typeface="Arial" panose="020B0604020202020204"/>
                          <a:ea typeface="等线" panose="02010600030101010101" charset="-122"/>
                        </a:rPr>
                        <a:t>AUC</a:t>
                      </a:r>
                      <a:endParaRPr lang="en-US" altLang="zh-CN" sz="16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>
                          <a:latin typeface="等线" panose="02010600030101010101" charset="-122"/>
                          <a:ea typeface="等线" panose="02010600030101010101" charset="-122"/>
                        </a:rPr>
                        <a:t>外部验证集</a:t>
                      </a:r>
                      <a:r>
                        <a:rPr lang="en-US" altLang="zh-CN" sz="1600">
                          <a:latin typeface="Arial" panose="020B0604020202020204"/>
                          <a:ea typeface="等线" panose="02010600030101010101" charset="-122"/>
                        </a:rPr>
                        <a:t>AUC</a:t>
                      </a:r>
                      <a:endParaRPr lang="en-US" altLang="zh-CN" sz="16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515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>
                          <a:latin typeface="等线" panose="02010600030101010101" charset="-122"/>
                          <a:ea typeface="等线" panose="02010600030101010101" charset="-122"/>
                        </a:rPr>
                        <a:t>仅临床模型（</a:t>
                      </a:r>
                      <a:r>
                        <a:rPr lang="en-US" altLang="zh-CN" sz="1600">
                          <a:latin typeface="Arial" panose="020B0604020202020204"/>
                          <a:ea typeface="等线" panose="02010600030101010101" charset="-122"/>
                        </a:rPr>
                        <a:t>AFP</a:t>
                      </a:r>
                      <a:r>
                        <a:rPr lang="zh-CN" sz="1600">
                          <a:latin typeface="等线" panose="02010600030101010101" charset="-122"/>
                          <a:ea typeface="等线" panose="02010600030101010101" charset="-122"/>
                        </a:rPr>
                        <a:t>）</a:t>
                      </a:r>
                      <a:endParaRPr lang="zh-CN" sz="16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600">
                          <a:latin typeface="Arial" panose="020B0604020202020204"/>
                          <a:ea typeface="等线" panose="02010600030101010101" charset="-122"/>
                        </a:rPr>
                        <a:t>0.796</a:t>
                      </a:r>
                      <a:endParaRPr lang="en-US" altLang="zh-CN" sz="16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600">
                          <a:latin typeface="Arial" panose="020B0604020202020204"/>
                          <a:ea typeface="等线" panose="02010600030101010101" charset="-122"/>
                        </a:rPr>
                        <a:t>0.754</a:t>
                      </a:r>
                      <a:endParaRPr lang="en-US" altLang="zh-CN" sz="16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135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>
                          <a:latin typeface="等线" panose="02010600030101010101" charset="-122"/>
                          <a:ea typeface="等线" panose="02010600030101010101" charset="-122"/>
                        </a:rPr>
                        <a:t>仅</a:t>
                      </a:r>
                      <a:r>
                        <a:rPr lang="en-US" altLang="zh-CN" sz="1600">
                          <a:latin typeface="Arial" panose="020B0604020202020204"/>
                          <a:ea typeface="等线" panose="02010600030101010101" charset="-122"/>
                        </a:rPr>
                        <a:t>delta</a:t>
                      </a:r>
                      <a:r>
                        <a:rPr lang="zh-CN" sz="1600">
                          <a:latin typeface="等线" panose="02010600030101010101" charset="-122"/>
                          <a:ea typeface="等线" panose="02010600030101010101" charset="-122"/>
                        </a:rPr>
                        <a:t>影像组学模型</a:t>
                      </a:r>
                      <a:endParaRPr lang="zh-CN" sz="16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600">
                          <a:latin typeface="Arial" panose="020B0604020202020204"/>
                          <a:ea typeface="等线" panose="02010600030101010101" charset="-122"/>
                        </a:rPr>
                        <a:t>0.819</a:t>
                      </a:r>
                      <a:endParaRPr lang="en-US" altLang="zh-CN" sz="16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600">
                          <a:latin typeface="Arial" panose="020B0604020202020204"/>
                          <a:ea typeface="等线" panose="02010600030101010101" charset="-122"/>
                        </a:rPr>
                        <a:t>0.781</a:t>
                      </a:r>
                      <a:endParaRPr lang="en-US" altLang="zh-CN" sz="16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135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影像</a:t>
                      </a:r>
                      <a:r>
                        <a:rPr lang="en-US" altLang="zh-CN" sz="1600">
                          <a:solidFill>
                            <a:srgbClr val="FF0000"/>
                          </a:solidFill>
                          <a:latin typeface="Arial" panose="020B0604020202020204"/>
                          <a:ea typeface="等线" panose="02010600030101010101" charset="-122"/>
                        </a:rPr>
                        <a:t>+AFP</a:t>
                      </a:r>
                      <a:r>
                        <a:rPr lang="zh-CN" sz="160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联合模型</a:t>
                      </a:r>
                      <a:endParaRPr lang="zh-CN" sz="160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Arial" panose="020B0604020202020204"/>
                          <a:ea typeface="等线" panose="02010600030101010101" charset="-122"/>
                        </a:rPr>
                        <a:t>0.920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Arial" panose="020B0604020202020204"/>
                          <a:ea typeface="等线" panose="02010600030101010101" charset="-122"/>
                        </a:rPr>
                        <a:t>0.857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2932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64225" y="969645"/>
            <a:ext cx="5873750" cy="6492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5A-D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SHAP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可解释性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</a:t>
            </a:r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SHAP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分析用于解释临床</a:t>
            </a:r>
            <a:r>
              <a:rPr lang="en-US" altLang="zh-CN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放射学模型。</a:t>
            </a:r>
            <a:endParaRPr lang="zh-CN" altLang="en-US" sz="28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8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特征重要性图显示：</a:t>
            </a:r>
            <a:r>
              <a:rPr lang="en-US" altLang="zh-CN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AFP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反应和放射学评分是</a:t>
            </a:r>
            <a:r>
              <a:rPr lang="en-US" altLang="zh-CN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pCR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最显著的预测因子</a:t>
            </a:r>
            <a:r>
              <a:rPr lang="en-US" altLang="zh-CN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5A-B)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8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贡献图显示，较高的</a:t>
            </a:r>
            <a:r>
              <a:rPr lang="en-US" altLang="zh-CN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AFP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反应值与</a:t>
            </a:r>
            <a:r>
              <a:rPr lang="en-US" altLang="zh-CN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pCR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可能性呈负相关，而</a:t>
            </a:r>
            <a:r>
              <a:rPr lang="en-US" altLang="zh-CN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较高的放射组学评分与</a:t>
            </a:r>
            <a:r>
              <a:rPr lang="en-US" altLang="zh-CN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pCR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呈正相关</a:t>
            </a:r>
            <a:r>
              <a:rPr lang="en-US" altLang="zh-CN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5C-D)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8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1375" y="6489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图</a:t>
            </a:r>
            <a:r>
              <a:rPr lang="en-US" altLang="zh-CN"/>
              <a:t>5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450" y="969645"/>
            <a:ext cx="5149850" cy="55200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349365" y="6489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图</a:t>
            </a:r>
            <a:r>
              <a:rPr lang="en-US" altLang="zh-CN"/>
              <a:t>S4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1976755"/>
            <a:ext cx="278130" cy="29495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913870" y="1953895"/>
            <a:ext cx="278130" cy="29495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788670" y="1296035"/>
            <a:ext cx="4497070" cy="444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788670" y="5680075"/>
            <a:ext cx="105791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6917055" y="1300480"/>
            <a:ext cx="4497070" cy="444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312863" y="753663"/>
            <a:ext cx="5565931" cy="3136170"/>
            <a:chOff x="10262" y="679"/>
            <a:chExt cx="5110" cy="4104"/>
          </a:xfrm>
        </p:grpSpPr>
        <p:sp>
          <p:nvSpPr>
            <p:cNvPr id="20" name="椭圆 19"/>
            <p:cNvSpPr/>
            <p:nvPr/>
          </p:nvSpPr>
          <p:spPr>
            <a:xfrm>
              <a:off x="12291" y="679"/>
              <a:ext cx="1052" cy="1425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438" y="929"/>
              <a:ext cx="757" cy="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Arial Unicode MS" panose="020B0604020202020204" charset="-122"/>
                  <a:ea typeface="Arial Unicode MS" panose="020B0604020202020204" charset="-122"/>
                </a:rPr>
                <a:t>03</a:t>
              </a:r>
              <a:endParaRPr lang="en-US" altLang="zh-CN" sz="4000" b="1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262" y="3576"/>
              <a:ext cx="5110" cy="1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sz="5400">
                  <a:solidFill>
                    <a:schemeClr val="accent1">
                      <a:lumMod val="5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讨论</a:t>
              </a:r>
              <a:endParaRPr lang="zh-CN" altLang="en-US" sz="5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2932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04.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讨论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39800" y="975360"/>
            <a:ext cx="10544810" cy="541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1.核心临床意义</a:t>
            </a:r>
            <a:endParaRPr lang="en-US" altLang="zh-CN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首次开发并验证了</a:t>
            </a:r>
            <a:r>
              <a:rPr lang="en-US" altLang="zh-CN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delta影像组学+AFP</a:t>
            </a:r>
            <a:r>
              <a:rPr lang="en-US" altLang="zh-CN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的联合模型，实现了肝癌转化治疗后pCR的无创、精准术前预测</a:t>
            </a:r>
            <a:endParaRPr lang="zh-CN" altLang="en-US" sz="28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能给临床医生提供量化的pCR概率，指导个性化治疗：pCR概率高的患者，可考虑保守治疗；pCR概率低的患者，优先根治性手术</a:t>
            </a:r>
            <a:endParaRPr lang="zh-CN" altLang="en-US" sz="28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28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2.研究局限性</a:t>
            </a:r>
            <a:endParaRPr lang="en-US" altLang="zh-CN" sz="28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回顾性研究，存在选择偏倚；外部验证集样本量偏小</a:t>
            </a:r>
            <a:endParaRPr lang="zh-CN" altLang="en-US" sz="28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治疗方案有差异，需要更大样本、前瞻性研究进一步验证</a:t>
            </a:r>
            <a:endParaRPr lang="zh-CN" altLang="en-US" sz="28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目前只用了MRI影像，未来可加入CT、病理等多组学数据，进一步提升模型准确性</a:t>
            </a:r>
            <a:endParaRPr lang="zh-CN" altLang="en-US" sz="28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1976755"/>
            <a:ext cx="278130" cy="29495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913870" y="1953895"/>
            <a:ext cx="278130" cy="29495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788670" y="1296035"/>
            <a:ext cx="4497070" cy="444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duation-hat-front-view_27483"/>
          <p:cNvSpPr>
            <a:spLocks noChangeAspect="1"/>
          </p:cNvSpPr>
          <p:nvPr/>
        </p:nvSpPr>
        <p:spPr bwMode="auto">
          <a:xfrm>
            <a:off x="5285673" y="664409"/>
            <a:ext cx="1605412" cy="1014432"/>
          </a:xfrm>
          <a:custGeom>
            <a:avLst/>
            <a:gdLst>
              <a:gd name="connsiteX0" fmla="*/ 104550 w 604718"/>
              <a:gd name="connsiteY0" fmla="*/ 208330 h 382112"/>
              <a:gd name="connsiteX1" fmla="*/ 156180 w 604718"/>
              <a:gd name="connsiteY1" fmla="*/ 208330 h 382112"/>
              <a:gd name="connsiteX2" fmla="*/ 261642 w 604718"/>
              <a:gd name="connsiteY2" fmla="*/ 248878 h 382112"/>
              <a:gd name="connsiteX3" fmla="*/ 298947 w 604718"/>
              <a:gd name="connsiteY3" fmla="*/ 255007 h 382112"/>
              <a:gd name="connsiteX4" fmla="*/ 340187 w 604718"/>
              <a:gd name="connsiteY4" fmla="*/ 247621 h 382112"/>
              <a:gd name="connsiteX5" fmla="*/ 433687 w 604718"/>
              <a:gd name="connsiteY5" fmla="*/ 208330 h 382112"/>
              <a:gd name="connsiteX6" fmla="*/ 490825 w 604718"/>
              <a:gd name="connsiteY6" fmla="*/ 208330 h 382112"/>
              <a:gd name="connsiteX7" fmla="*/ 490825 w 604718"/>
              <a:gd name="connsiteY7" fmla="*/ 271509 h 382112"/>
              <a:gd name="connsiteX8" fmla="*/ 458400 w 604718"/>
              <a:gd name="connsiteY8" fmla="*/ 320701 h 382112"/>
              <a:gd name="connsiteX9" fmla="*/ 329326 w 604718"/>
              <a:gd name="connsiteY9" fmla="*/ 376337 h 382112"/>
              <a:gd name="connsiteX10" fmla="*/ 264632 w 604718"/>
              <a:gd name="connsiteY10" fmla="*/ 376337 h 382112"/>
              <a:gd name="connsiteX11" fmla="*/ 136819 w 604718"/>
              <a:gd name="connsiteY11" fmla="*/ 320701 h 382112"/>
              <a:gd name="connsiteX12" fmla="*/ 104550 w 604718"/>
              <a:gd name="connsiteY12" fmla="*/ 271509 h 382112"/>
              <a:gd name="connsiteX13" fmla="*/ 300973 w 604718"/>
              <a:gd name="connsiteY13" fmla="*/ 5 h 382112"/>
              <a:gd name="connsiteX14" fmla="*/ 334162 w 604718"/>
              <a:gd name="connsiteY14" fmla="*/ 4701 h 382112"/>
              <a:gd name="connsiteX15" fmla="*/ 581267 w 604718"/>
              <a:gd name="connsiteY15" fmla="*/ 92552 h 382112"/>
              <a:gd name="connsiteX16" fmla="*/ 588822 w 604718"/>
              <a:gd name="connsiteY16" fmla="*/ 114398 h 382112"/>
              <a:gd name="connsiteX17" fmla="*/ 589136 w 604718"/>
              <a:gd name="connsiteY17" fmla="*/ 114398 h 382112"/>
              <a:gd name="connsiteX18" fmla="*/ 589136 w 604718"/>
              <a:gd name="connsiteY18" fmla="*/ 270771 h 382112"/>
              <a:gd name="connsiteX19" fmla="*/ 604718 w 604718"/>
              <a:gd name="connsiteY19" fmla="*/ 321376 h 382112"/>
              <a:gd name="connsiteX20" fmla="*/ 561278 w 604718"/>
              <a:gd name="connsiteY20" fmla="*/ 321376 h 382112"/>
              <a:gd name="connsiteX21" fmla="*/ 576388 w 604718"/>
              <a:gd name="connsiteY21" fmla="*/ 271242 h 382112"/>
              <a:gd name="connsiteX22" fmla="*/ 576388 w 604718"/>
              <a:gd name="connsiteY22" fmla="*/ 120370 h 382112"/>
              <a:gd name="connsiteX23" fmla="*/ 333376 w 604718"/>
              <a:gd name="connsiteY23" fmla="*/ 222680 h 382112"/>
              <a:gd name="connsiteX24" fmla="*/ 268058 w 604718"/>
              <a:gd name="connsiteY24" fmla="*/ 223780 h 382112"/>
              <a:gd name="connsiteX25" fmla="*/ 13556 w 604718"/>
              <a:gd name="connsiteY25" fmla="*/ 125870 h 382112"/>
              <a:gd name="connsiteX26" fmla="*/ 13714 w 604718"/>
              <a:gd name="connsiteY26" fmla="*/ 100882 h 382112"/>
              <a:gd name="connsiteX27" fmla="*/ 267901 w 604718"/>
              <a:gd name="connsiteY27" fmla="*/ 5329 h 382112"/>
              <a:gd name="connsiteX28" fmla="*/ 300973 w 604718"/>
              <a:gd name="connsiteY28" fmla="*/ 5 h 38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4718" h="382112">
                <a:moveTo>
                  <a:pt x="104550" y="208330"/>
                </a:moveTo>
                <a:lnTo>
                  <a:pt x="156180" y="208330"/>
                </a:lnTo>
                <a:lnTo>
                  <a:pt x="261642" y="248878"/>
                </a:lnTo>
                <a:cubicBezTo>
                  <a:pt x="274864" y="253907"/>
                  <a:pt x="289188" y="255007"/>
                  <a:pt x="298947" y="255007"/>
                </a:cubicBezTo>
                <a:cubicBezTo>
                  <a:pt x="314373" y="255007"/>
                  <a:pt x="329012" y="252493"/>
                  <a:pt x="340187" y="247621"/>
                </a:cubicBezTo>
                <a:lnTo>
                  <a:pt x="433687" y="208330"/>
                </a:lnTo>
                <a:lnTo>
                  <a:pt x="490825" y="208330"/>
                </a:lnTo>
                <a:lnTo>
                  <a:pt x="490825" y="271509"/>
                </a:lnTo>
                <a:cubicBezTo>
                  <a:pt x="490825" y="290998"/>
                  <a:pt x="476344" y="313000"/>
                  <a:pt x="458400" y="320701"/>
                </a:cubicBezTo>
                <a:lnTo>
                  <a:pt x="329326" y="376337"/>
                </a:lnTo>
                <a:cubicBezTo>
                  <a:pt x="311382" y="384038"/>
                  <a:pt x="282419" y="384038"/>
                  <a:pt x="264632" y="376337"/>
                </a:cubicBezTo>
                <a:lnTo>
                  <a:pt x="136819" y="320701"/>
                </a:lnTo>
                <a:cubicBezTo>
                  <a:pt x="119032" y="313000"/>
                  <a:pt x="104550" y="290998"/>
                  <a:pt x="104550" y="271509"/>
                </a:cubicBezTo>
                <a:close/>
                <a:moveTo>
                  <a:pt x="300973" y="5"/>
                </a:moveTo>
                <a:cubicBezTo>
                  <a:pt x="312954" y="-93"/>
                  <a:pt x="324955" y="1479"/>
                  <a:pt x="334162" y="4701"/>
                </a:cubicBezTo>
                <a:lnTo>
                  <a:pt x="581267" y="92552"/>
                </a:lnTo>
                <a:cubicBezTo>
                  <a:pt x="596849" y="98053"/>
                  <a:pt x="599210" y="107168"/>
                  <a:pt x="588822" y="114398"/>
                </a:cubicBezTo>
                <a:lnTo>
                  <a:pt x="589136" y="114398"/>
                </a:lnTo>
                <a:lnTo>
                  <a:pt x="589136" y="270771"/>
                </a:lnTo>
                <a:lnTo>
                  <a:pt x="604718" y="321376"/>
                </a:lnTo>
                <a:lnTo>
                  <a:pt x="561278" y="321376"/>
                </a:lnTo>
                <a:lnTo>
                  <a:pt x="576388" y="271242"/>
                </a:lnTo>
                <a:lnTo>
                  <a:pt x="576388" y="120370"/>
                </a:lnTo>
                <a:lnTo>
                  <a:pt x="333376" y="222680"/>
                </a:lnTo>
                <a:cubicBezTo>
                  <a:pt x="315433" y="230224"/>
                  <a:pt x="286158" y="230695"/>
                  <a:pt x="268058" y="223780"/>
                </a:cubicBezTo>
                <a:lnTo>
                  <a:pt x="13556" y="125870"/>
                </a:lnTo>
                <a:cubicBezTo>
                  <a:pt x="-4544" y="118798"/>
                  <a:pt x="-4544" y="107640"/>
                  <a:pt x="13714" y="100882"/>
                </a:cubicBezTo>
                <a:lnTo>
                  <a:pt x="267901" y="5329"/>
                </a:lnTo>
                <a:cubicBezTo>
                  <a:pt x="277030" y="1872"/>
                  <a:pt x="288991" y="104"/>
                  <a:pt x="300973" y="5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25400">
            <a:noFill/>
          </a:ln>
        </p:spPr>
      </p:sp>
      <p:sp>
        <p:nvSpPr>
          <p:cNvPr id="20" name="文本框 19"/>
          <p:cNvSpPr txBox="1"/>
          <p:nvPr/>
        </p:nvSpPr>
        <p:spPr>
          <a:xfrm>
            <a:off x="635" y="2202815"/>
            <a:ext cx="121723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汇报结束</a:t>
            </a:r>
            <a:endParaRPr lang="zh-CN" altLang="en-US" sz="5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317625" y="3250565"/>
            <a:ext cx="10096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endParaRPr lang="en-US" altLang="zh-CN">
              <a:solidFill>
                <a:schemeClr val="accent1">
                  <a:lumMod val="50000"/>
                </a:schemeClr>
              </a:solidFill>
              <a:latin typeface="Adobe Arabic" panose="02040503050201020203" charset="0"/>
              <a:cs typeface="Adobe Arabic" panose="02040503050201020203" charset="0"/>
              <a:sym typeface="+mn-ea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788670" y="5680075"/>
            <a:ext cx="105791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6917055" y="1300480"/>
            <a:ext cx="4497070" cy="444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1"/>
            </p:custDataLst>
          </p:nvPr>
        </p:nvSpPr>
        <p:spPr>
          <a:xfrm>
            <a:off x="6529705" y="4569460"/>
            <a:ext cx="24015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2026.3.13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2"/>
            </p:custDataLst>
          </p:nvPr>
        </p:nvSpPr>
        <p:spPr>
          <a:xfrm>
            <a:off x="3556000" y="4569460"/>
            <a:ext cx="23545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汇报人：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蒋铠屹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7" name="菱形 26"/>
          <p:cNvSpPr/>
          <p:nvPr>
            <p:custDataLst>
              <p:tags r:id="rId3"/>
            </p:custDataLst>
          </p:nvPr>
        </p:nvSpPr>
        <p:spPr>
          <a:xfrm>
            <a:off x="3171190" y="4563745"/>
            <a:ext cx="466090" cy="466090"/>
          </a:xfrm>
          <a:prstGeom prst="diamond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菱形 27"/>
          <p:cNvSpPr/>
          <p:nvPr>
            <p:custDataLst>
              <p:tags r:id="rId4"/>
            </p:custDataLst>
          </p:nvPr>
        </p:nvSpPr>
        <p:spPr>
          <a:xfrm>
            <a:off x="6132830" y="4563745"/>
            <a:ext cx="466090" cy="466090"/>
          </a:xfrm>
          <a:prstGeom prst="diamond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65.8,&quot;left&quot;:249.7,&quot;top&quot;:359.35,&quot;width&quot;:453.55}"/>
</p:tagLst>
</file>

<file path=ppt/tags/tag64.xml><?xml version="1.0" encoding="utf-8"?>
<p:tagLst xmlns:p="http://schemas.openxmlformats.org/presentationml/2006/main">
  <p:tag name="KSO_WM_DIAGRAM_VIRTUALLY_FRAME" val="{&quot;height&quot;:65.8,&quot;left&quot;:249.7,&quot;top&quot;:359.35,&quot;width&quot;:453.55}"/>
</p:tagLst>
</file>

<file path=ppt/tags/tag65.xml><?xml version="1.0" encoding="utf-8"?>
<p:tagLst xmlns:p="http://schemas.openxmlformats.org/presentationml/2006/main">
  <p:tag name="KSO_WM_DIAGRAM_VIRTUALLY_FRAME" val="{&quot;height&quot;:65.8,&quot;left&quot;:249.7,&quot;top&quot;:359.35,&quot;width&quot;:453.55}"/>
</p:tagLst>
</file>

<file path=ppt/tags/tag66.xml><?xml version="1.0" encoding="utf-8"?>
<p:tagLst xmlns:p="http://schemas.openxmlformats.org/presentationml/2006/main">
  <p:tag name="KSO_WM_DIAGRAM_VIRTUALLY_FRAME" val="{&quot;height&quot;:65.8,&quot;left&quot;:249.7,&quot;top&quot;:359.35,&quot;width&quot;:453.55}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DIAGRAM_VIRTUALLY_FRAME" val="{&quot;height&quot;:162.5,&quot;left&quot;:128,&quot;top&quot;:205.85,&quot;width&quot;:701.95}"/>
</p:tagLst>
</file>

<file path=ppt/tags/tag69.xml><?xml version="1.0" encoding="utf-8"?>
<p:tagLst xmlns:p="http://schemas.openxmlformats.org/presentationml/2006/main">
  <p:tag name="KSO_WM_DIAGRAM_VIRTUALLY_FRAME" val="{&quot;height&quot;:162.5,&quot;left&quot;:128,&quot;top&quot;:205.85,&quot;width&quot;:701.95}"/>
</p:tagLst>
</file>

<file path=ppt/tags/tag70.xml><?xml version="1.0" encoding="utf-8"?>
<p:tagLst xmlns:p="http://schemas.openxmlformats.org/presentationml/2006/main">
  <p:tag name="KSO_WM_DIAGRAM_VIRTUALLY_FRAME" val="{&quot;height&quot;:162.5,&quot;left&quot;:128,&quot;top&quot;:205.85,&quot;width&quot;:701.95}"/>
</p:tagLst>
</file>

<file path=ppt/tags/tag71.xml><?xml version="1.0" encoding="utf-8"?>
<p:tagLst xmlns:p="http://schemas.openxmlformats.org/presentationml/2006/main">
  <p:tag name="KSO_WM_DIAGRAM_VIRTUALLY_FRAME" val="{&quot;height&quot;:162.5,&quot;left&quot;:128,&quot;top&quot;:205.85,&quot;width&quot;:701.95}"/>
</p:tagLst>
</file>

<file path=ppt/tags/tag72.xml><?xml version="1.0" encoding="utf-8"?>
<p:tagLst xmlns:p="http://schemas.openxmlformats.org/presentationml/2006/main">
  <p:tag name="KSO_WM_DIAGRAM_VIRTUALLY_FRAME" val="{&quot;height&quot;:162.5,&quot;left&quot;:128,&quot;top&quot;:205.85,&quot;width&quot;:701.95}"/>
</p:tagLst>
</file>

<file path=ppt/tags/tag73.xml><?xml version="1.0" encoding="utf-8"?>
<p:tagLst xmlns:p="http://schemas.openxmlformats.org/presentationml/2006/main">
  <p:tag name="KSO_WM_DIAGRAM_VIRTUALLY_FRAME" val="{&quot;height&quot;:162.5,&quot;left&quot;:128,&quot;top&quot;:205.85,&quot;width&quot;:701.95}"/>
</p:tagLst>
</file>

<file path=ppt/tags/tag74.xml><?xml version="1.0" encoding="utf-8"?>
<p:tagLst xmlns:p="http://schemas.openxmlformats.org/presentationml/2006/main">
  <p:tag name="KSO_WM_DIAGRAM_VIRTUALLY_FRAME" val="{&quot;height&quot;:162.5,&quot;left&quot;:128,&quot;top&quot;:205.85,&quot;width&quot;:701.95}"/>
</p:tagLst>
</file>

<file path=ppt/tags/tag75.xml><?xml version="1.0" encoding="utf-8"?>
<p:tagLst xmlns:p="http://schemas.openxmlformats.org/presentationml/2006/main">
  <p:tag name="KSO_WM_DIAGRAM_VIRTUALLY_FRAME" val="{&quot;height&quot;:162.5,&quot;left&quot;:128,&quot;top&quot;:205.85,&quot;width&quot;:701.95}"/>
</p:tagLst>
</file>

<file path=ppt/tags/tag76.xml><?xml version="1.0" encoding="utf-8"?>
<p:tagLst xmlns:p="http://schemas.openxmlformats.org/presentationml/2006/main">
  <p:tag name="KSO_WM_DIAGRAM_VIRTUALLY_FRAME" val="{&quot;height&quot;:162.5,&quot;left&quot;:128,&quot;top&quot;:205.85,&quot;width&quot;:701.95}"/>
</p:tagLst>
</file>

<file path=ppt/tags/tag77.xml><?xml version="1.0" encoding="utf-8"?>
<p:tagLst xmlns:p="http://schemas.openxmlformats.org/presentationml/2006/main">
  <p:tag name="KSO_WM_DIAGRAM_VIRTUALLY_FRAME" val="{&quot;height&quot;:162.5,&quot;left&quot;:128,&quot;top&quot;:205.85,&quot;width&quot;:701.95}"/>
</p:tagLst>
</file>

<file path=ppt/tags/tag78.xml><?xml version="1.0" encoding="utf-8"?>
<p:tagLst xmlns:p="http://schemas.openxmlformats.org/presentationml/2006/main">
  <p:tag name="KSO_WM_DIAGRAM_VIRTUALLY_FRAME" val="{&quot;height&quot;:162.5,&quot;left&quot;:128,&quot;top&quot;:205.85,&quot;width&quot;:701.95}"/>
</p:tagLst>
</file>

<file path=ppt/tags/tag79.xml><?xml version="1.0" encoding="utf-8"?>
<p:tagLst xmlns:p="http://schemas.openxmlformats.org/presentationml/2006/main">
  <p:tag name="KSO_WM_DIAGRAM_VIRTUALLY_FRAME" val="{&quot;height&quot;:162.5,&quot;left&quot;:128,&quot;top&quot;:205.85,&quot;width&quot;:701.95}"/>
</p:tagLst>
</file>

<file path=ppt/tags/tag80.xml><?xml version="1.0" encoding="utf-8"?>
<p:tagLst xmlns:p="http://schemas.openxmlformats.org/presentationml/2006/main">
  <p:tag name="KSO_WM_DIAGRAM_VIRTUALLY_FRAME" val="{&quot;height&quot;:162.5,&quot;left&quot;:128,&quot;top&quot;:205.85,&quot;width&quot;:701.95}"/>
</p:tagLst>
</file>

<file path=ppt/tags/tag81.xml><?xml version="1.0" encoding="utf-8"?>
<p:tagLst xmlns:p="http://schemas.openxmlformats.org/presentationml/2006/main">
  <p:tag name="KSO_WM_DIAGRAM_VIRTUALLY_FRAME" val="{&quot;height&quot;:162.5,&quot;left&quot;:128,&quot;top&quot;:205.85,&quot;width&quot;:701.95}"/>
</p:tagLst>
</file>

<file path=ppt/tags/tag82.xml><?xml version="1.0" encoding="utf-8"?>
<p:tagLst xmlns:p="http://schemas.openxmlformats.org/presentationml/2006/main">
  <p:tag name="KSO_WM_DIAGRAM_VIRTUALLY_FRAME" val="{&quot;height&quot;:162.5,&quot;left&quot;:128,&quot;top&quot;:205.85,&quot;width&quot;:701.95}"/>
</p:tagLst>
</file>

<file path=ppt/tags/tag83.xml><?xml version="1.0" encoding="utf-8"?>
<p:tagLst xmlns:p="http://schemas.openxmlformats.org/presentationml/2006/main">
  <p:tag name="KSO_WM_DIAGRAM_VIRTUALLY_FRAME" val="{&quot;height&quot;:162.5,&quot;left&quot;:128,&quot;top&quot;:205.85,&quot;width&quot;:701.95}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TAG_VERSION" val="1.0"/>
  <p:tag name="KSO_WM_TEMPLATE_CATEGORY" val="diagram"/>
  <p:tag name="KSO_WM_TEMPLATE_INDEX" val="160534"/>
  <p:tag name="KSO_WM_UNIT_TYPE" val="m_i"/>
  <p:tag name="KSO_WM_UNIT_INDEX" val="1_1"/>
  <p:tag name="KSO_WM_UNIT_ID" val="258*m_i*1_1"/>
  <p:tag name="KSO_WM_UNIT_CLEAR" val="1"/>
  <p:tag name="KSO_WM_UNIT_LAYERLEVEL" val="1_1"/>
  <p:tag name="KSO_WM_BEAUTIFY_FLAG" val="#wm#"/>
  <p:tag name="KSO_WM_DIAGRAM_GROUP_CODE" val="m1-1"/>
  <p:tag name="KSO_WM_UNIT_FILL_FORE_SCHEMECOLOR_INDEX" val="5"/>
  <p:tag name="KSO_WM_UNIT_FILL_TYPE" val="1"/>
  <p:tag name="KSO_WM_UNIT_TEXT_FILL_FORE_SCHEMECOLOR_INDEX" val="5"/>
  <p:tag name="KSO_WM_UNIT_TEXT_FILL_TYPE" val="1"/>
</p:tagLst>
</file>

<file path=ppt/tags/tag87.xml><?xml version="1.0" encoding="utf-8"?>
<p:tagLst xmlns:p="http://schemas.openxmlformats.org/presentationml/2006/main">
  <p:tag name="KSO_WM_TAG_VERSION" val="1.0"/>
  <p:tag name="KSO_WM_TEMPLATE_CATEGORY" val="diagram"/>
  <p:tag name="KSO_WM_TEMPLATE_INDEX" val="160534"/>
  <p:tag name="KSO_WM_UNIT_TYPE" val="m_i"/>
  <p:tag name="KSO_WM_UNIT_INDEX" val="1_2"/>
  <p:tag name="KSO_WM_UNIT_ID" val="258*m_i*1_2"/>
  <p:tag name="KSO_WM_UNIT_CLEAR" val="1"/>
  <p:tag name="KSO_WM_UNIT_LAYERLEVEL" val="1_1"/>
  <p:tag name="KSO_WM_BEAUTIFY_FLAG" val="#wm#"/>
  <p:tag name="KSO_WM_DIAGRAM_GROUP_CODE" val="m1-1"/>
  <p:tag name="KSO_WM_UNIT_FILL_FORE_SCHEMECOLOR_INDEX" val="6"/>
  <p:tag name="KSO_WM_UNIT_FILL_TYPE" val="1"/>
  <p:tag name="KSO_WM_UNIT_TEXT_FILL_FORE_SCHEMECOLOR_INDEX" val="6"/>
  <p:tag name="KSO_WM_UNIT_TEXT_FILL_TYPE" val="1"/>
</p:tagLst>
</file>

<file path=ppt/tags/tag88.xml><?xml version="1.0" encoding="utf-8"?>
<p:tagLst xmlns:p="http://schemas.openxmlformats.org/presentationml/2006/main">
  <p:tag name="KSO_WM_TAG_VERSION" val="1.0"/>
  <p:tag name="KSO_WM_TEMPLATE_CATEGORY" val="diagram"/>
  <p:tag name="KSO_WM_TEMPLATE_INDEX" val="160534"/>
  <p:tag name="KSO_WM_UNIT_TYPE" val="m_i"/>
  <p:tag name="KSO_WM_UNIT_INDEX" val="1_3"/>
  <p:tag name="KSO_WM_UNIT_ID" val="258*m_i*1_3"/>
  <p:tag name="KSO_WM_UNIT_CLEAR" val="1"/>
  <p:tag name="KSO_WM_UNIT_LAYERLEVEL" val="1_1"/>
  <p:tag name="KSO_WM_BEAUTIFY_FLAG" val="#wm#"/>
  <p:tag name="KSO_WM_DIAGRAM_GROUP_CODE" val="m1-1"/>
  <p:tag name="KSO_WM_UNIT_FILL_FORE_SCHEMECOLOR_INDEX" val="7"/>
  <p:tag name="KSO_WM_UNIT_FILL_TYPE" val="1"/>
  <p:tag name="KSO_WM_UNIT_TEXT_FILL_FORE_SCHEMECOLOR_INDEX" val="7"/>
  <p:tag name="KSO_WM_UNIT_TEXT_FILL_TYPE" val="1"/>
</p:tagLst>
</file>

<file path=ppt/tags/tag89.xml><?xml version="1.0" encoding="utf-8"?>
<p:tagLst xmlns:p="http://schemas.openxmlformats.org/presentationml/2006/main">
  <p:tag name="KSO_WM_TAG_VERSION" val="1.0"/>
  <p:tag name="KSO_WM_TEMPLATE_CATEGORY" val="diagram"/>
  <p:tag name="KSO_WM_TEMPLATE_INDEX" val="160534"/>
  <p:tag name="KSO_WM_UNIT_TYPE" val="m_i"/>
  <p:tag name="KSO_WM_UNIT_INDEX" val="1_4"/>
  <p:tag name="KSO_WM_UNIT_ID" val="258*m_i*1_4"/>
  <p:tag name="KSO_WM_UNIT_CLEAR" val="1"/>
  <p:tag name="KSO_WM_UNIT_LAYERLEVEL" val="1_1"/>
  <p:tag name="KSO_WM_BEAUTIFY_FLAG" val="#wm#"/>
  <p:tag name="KSO_WM_DIAGRAM_GROUP_CODE" val="m1-1"/>
  <p:tag name="KSO_WM_UNIT_FILL_FORE_SCHEMECOLOR_INDEX" val="8"/>
  <p:tag name="KSO_WM_UNIT_FILL_TYPE" val="1"/>
  <p:tag name="KSO_WM_UNIT_TEXT_FILL_FORE_SCHEMECOLOR_INDEX" val="8"/>
  <p:tag name="KSO_WM_UNIT_TEXT_FILL_TYPE" val="1"/>
</p:tagLst>
</file>

<file path=ppt/tags/tag90.xml><?xml version="1.0" encoding="utf-8"?>
<p:tagLst xmlns:p="http://schemas.openxmlformats.org/presentationml/2006/main">
  <p:tag name="KSO_WM_TEMPLATE_CATEGORY" val="diagram"/>
  <p:tag name="KSO_WM_TEMPLATE_INDEX" val="20188643"/>
  <p:tag name="KSO_WM_UNIT_TYPE" val="q_h_a"/>
  <p:tag name="KSO_WM_UNIT_INDEX" val="1_2_1"/>
  <p:tag name="KSO_WM_UNIT_ID" val="diagram20188643_3*q_h_a*1_2_1"/>
  <p:tag name="KSO_WM_UNIT_LAYERLEVEL" val="1_1_1"/>
  <p:tag name="KSO_WM_UNIT_HIGHLIGHT" val="0"/>
  <p:tag name="KSO_WM_UNIT_COMPATIBLE" val="0"/>
  <p:tag name="KSO_WM_BEAUTIFY_FLAG" val="#wm#"/>
  <p:tag name="KSO_WM_TAG_VERSION" val="1.0"/>
  <p:tag name="KSO_WM_DIAGRAM_GROUP_CODE" val="q1-1"/>
  <p:tag name="KSO_WM_UNIT_PRESET_TEXT" val="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6"/>
  <p:tag name="KSO_WM_UNIT_TEXT_FILL_TYPE" val="1"/>
  <p:tag name="KSO_WM_DIAGRAM_VIRTUALLY_FRAME" val="{&quot;height&quot;:301.4,&quot;left&quot;:141.65,&quot;top&quot;:130.1,&quot;width&quot;:133.8}"/>
</p:tagLst>
</file>

<file path=ppt/tags/tag91.xml><?xml version="1.0" encoding="utf-8"?>
<p:tagLst xmlns:p="http://schemas.openxmlformats.org/presentationml/2006/main">
  <p:tag name="KSO_WM_TEMPLATE_CATEGORY" val="diagram"/>
  <p:tag name="KSO_WM_TEMPLATE_INDEX" val="20188643"/>
  <p:tag name="KSO_WM_UNIT_TYPE" val="q_h_a"/>
  <p:tag name="KSO_WM_UNIT_INDEX" val="1_2_1"/>
  <p:tag name="KSO_WM_UNIT_ID" val="diagram20188643_3*q_h_a*1_2_1"/>
  <p:tag name="KSO_WM_UNIT_LAYERLEVEL" val="1_1_1"/>
  <p:tag name="KSO_WM_UNIT_HIGHLIGHT" val="0"/>
  <p:tag name="KSO_WM_UNIT_COMPATIBLE" val="0"/>
  <p:tag name="KSO_WM_BEAUTIFY_FLAG" val="#wm#"/>
  <p:tag name="KSO_WM_TAG_VERSION" val="1.0"/>
  <p:tag name="KSO_WM_DIAGRAM_GROUP_CODE" val="q1-1"/>
  <p:tag name="KSO_WM_UNIT_PRESET_TEXT" val="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6"/>
  <p:tag name="KSO_WM_UNIT_TEXT_FILL_TYPE" val="1"/>
  <p:tag name="KSO_WM_DIAGRAM_VIRTUALLY_FRAME" val="{&quot;height&quot;:301.4,&quot;left&quot;:141.65,&quot;top&quot;:130.1,&quot;width&quot;:133.8}"/>
</p:tagLst>
</file>

<file path=ppt/tags/tag92.xml><?xml version="1.0" encoding="utf-8"?>
<p:tagLst xmlns:p="http://schemas.openxmlformats.org/presentationml/2006/main">
  <p:tag name="KSO_WM_TEMPLATE_CATEGORY" val="diagram"/>
  <p:tag name="KSO_WM_TEMPLATE_INDEX" val="20188643"/>
  <p:tag name="KSO_WM_UNIT_TYPE" val="q_h_a"/>
  <p:tag name="KSO_WM_UNIT_INDEX" val="1_2_1"/>
  <p:tag name="KSO_WM_UNIT_ID" val="diagram20188643_3*q_h_a*1_2_1"/>
  <p:tag name="KSO_WM_UNIT_LAYERLEVEL" val="1_1_1"/>
  <p:tag name="KSO_WM_UNIT_HIGHLIGHT" val="0"/>
  <p:tag name="KSO_WM_UNIT_COMPATIBLE" val="0"/>
  <p:tag name="KSO_WM_BEAUTIFY_FLAG" val="#wm#"/>
  <p:tag name="KSO_WM_TAG_VERSION" val="1.0"/>
  <p:tag name="KSO_WM_DIAGRAM_GROUP_CODE" val="q1-1"/>
  <p:tag name="KSO_WM_UNIT_PRESET_TEXT" val="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6"/>
  <p:tag name="KSO_WM_UNIT_TEXT_FILL_TYPE" val="1"/>
  <p:tag name="KSO_WM_DIAGRAM_VIRTUALLY_FRAME" val="{&quot;height&quot;:301.4,&quot;left&quot;:141.65,&quot;top&quot;:130.1,&quot;width&quot;:133.8}"/>
</p:tagLst>
</file>

<file path=ppt/tags/tag93.xml><?xml version="1.0" encoding="utf-8"?>
<p:tagLst xmlns:p="http://schemas.openxmlformats.org/presentationml/2006/main">
  <p:tag name="KSO_WM_TEMPLATE_CATEGORY" val="diagram"/>
  <p:tag name="KSO_WM_TEMPLATE_INDEX" val="20188643"/>
  <p:tag name="KSO_WM_UNIT_TYPE" val="q_h_a"/>
  <p:tag name="KSO_WM_UNIT_INDEX" val="1_2_1"/>
  <p:tag name="KSO_WM_UNIT_ID" val="diagram20188643_3*q_h_a*1_2_1"/>
  <p:tag name="KSO_WM_UNIT_LAYERLEVEL" val="1_1_1"/>
  <p:tag name="KSO_WM_UNIT_HIGHLIGHT" val="0"/>
  <p:tag name="KSO_WM_UNIT_COMPATIBLE" val="0"/>
  <p:tag name="KSO_WM_BEAUTIFY_FLAG" val="#wm#"/>
  <p:tag name="KSO_WM_TAG_VERSION" val="1.0"/>
  <p:tag name="KSO_WM_DIAGRAM_GROUP_CODE" val="q1-1"/>
  <p:tag name="KSO_WM_UNIT_PRESET_TEXT" val="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6"/>
  <p:tag name="KSO_WM_UNIT_TEXT_FILL_TYPE" val="1"/>
  <p:tag name="KSO_WM_DIAGRAM_VIRTUALLY_FRAME" val="{&quot;height&quot;:301.4,&quot;left&quot;:141.65,&quot;top&quot;:130.1,&quot;width&quot;:133.8}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67_2*n_h_i*1_1_3"/>
  <p:tag name="KSO_WM_TEMPLATE_CATEGORY" val="diagram"/>
  <p:tag name="KSO_WM_TEMPLATE_INDEX" val="20233167"/>
  <p:tag name="KSO_WM_UNIT_LAYERLEVEL" val="1_1_1"/>
  <p:tag name="KSO_WM_TAG_VERSION" val="3.0"/>
  <p:tag name="KSO_WM_UNIT_ISCONTENTSTITLE" val="0"/>
  <p:tag name="KSO_WM_UNIT_ISNUMDGMTITLE" val="0"/>
  <p:tag name="KSO_WM_UNIT_NOCLEAR" val="0"/>
  <p:tag name="KSO_WM_DIAGRAM_GROUP_CODE" val="n1-1"/>
  <p:tag name="KSO_WM_UNIT_TYPE" val="n_h_i"/>
  <p:tag name="KSO_WM_UNIT_INDEX" val="1_1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92.75023622047235,&quot;left&quot;:60.42503937007874,&quot;top&quot;:76.79984251968503,&quot;width&quot;:856.949921259842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67_2*n_h_h_i*1_2_3_2"/>
  <p:tag name="KSO_WM_TEMPLATE_CATEGORY" val="diagram"/>
  <p:tag name="KSO_WM_TEMPLATE_INDEX" val="20233167"/>
  <p:tag name="KSO_WM_UNIT_LAYERLEVEL" val="1_1_1_1"/>
  <p:tag name="KSO_WM_TAG_VERSION" val="3.0"/>
  <p:tag name="KSO_WM_DIAGRAM_GROUP_CODE" val="n1-1"/>
  <p:tag name="KSO_WM_UNIT_TYPE" val="n_h_h_i"/>
  <p:tag name="KSO_WM_UNIT_INDEX" val="1_2_3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92.75023622047235,&quot;left&quot;:60.42503937007874,&quot;top&quot;:76.79984251968503,&quot;width&quot;:856.9499212598424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8"/>
  <p:tag name="KSO_WM_UNIT_LINE_FORE_SCHEMECOLOR_INDEX" val="16"/>
  <p:tag name="KSO_WM_DIAGRAM_USE_COLOR_VALUE" val="{&quot;color_scheme&quot;:1,&quot;color_type&quot;:1,&quot;theme_color_indexes&quot;:[5,6,5,6,5,6]}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67_2*n_h_h_i*1_2_2_2"/>
  <p:tag name="KSO_WM_TEMPLATE_CATEGORY" val="diagram"/>
  <p:tag name="KSO_WM_TEMPLATE_INDEX" val="20233167"/>
  <p:tag name="KSO_WM_UNIT_LAYERLEVEL" val="1_1_1_1"/>
  <p:tag name="KSO_WM_TAG_VERSION" val="3.0"/>
  <p:tag name="KSO_WM_DIAGRAM_GROUP_CODE" val="n1-1"/>
  <p:tag name="KSO_WM_UNIT_TYPE" val="n_h_h_i"/>
  <p:tag name="KSO_WM_UNIT_INDEX" val="1_2_2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92.75023622047235,&quot;left&quot;:60.42503937007874,&quot;top&quot;:76.79984251968503,&quot;width&quot;:856.9499212598424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4"/>
  <p:tag name="KSO_WM_UNIT_LINE_FORE_SCHEMECOLOR_INDEX" val="16"/>
  <p:tag name="KSO_WM_DIAGRAM_USE_COLOR_VALUE" val="{&quot;color_scheme&quot;:1,&quot;color_type&quot;:1,&quot;theme_color_indexes&quot;:[5,6,5,6,5,6]}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67_2*n_h_h_i*1_2_1_2"/>
  <p:tag name="KSO_WM_TEMPLATE_CATEGORY" val="diagram"/>
  <p:tag name="KSO_WM_TEMPLATE_INDEX" val="20233167"/>
  <p:tag name="KSO_WM_UNIT_LAYERLEVEL" val="1_1_1_1"/>
  <p:tag name="KSO_WM_TAG_VERSION" val="3.0"/>
  <p:tag name="KSO_WM_DIAGRAM_GROUP_CODE" val="n1-1"/>
  <p:tag name="KSO_WM_UNIT_TYPE" val="n_h_h_i"/>
  <p:tag name="KSO_WM_UNIT_INDEX" val="1_2_1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92.75023622047235,&quot;left&quot;:60.42503937007874,&quot;top&quot;:76.79984251968503,&quot;width&quot;:856.949921259842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6"/>
  <p:tag name="KSO_WM_DIAGRAM_USE_COLOR_VALUE" val="{&quot;color_scheme&quot;:1,&quot;color_type&quot;:1,&quot;theme_color_indexes&quot;:[5,6,5,6,5,6]}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67_2*n_h_a*1_1_2"/>
  <p:tag name="KSO_WM_TEMPLATE_CATEGORY" val="diagram"/>
  <p:tag name="KSO_WM_TEMPLATE_INDEX" val="20233167"/>
  <p:tag name="KSO_WM_UNIT_LAYERLEVEL" val="1_1_1"/>
  <p:tag name="KSO_WM_TAG_VERSION" val="3.0"/>
  <p:tag name="KSO_WM_DIAGRAM_GROUP_CODE" val="n1-1"/>
  <p:tag name="KSO_WM_UNIT_TYPE" val="n_h_a"/>
  <p:tag name="KSO_WM_UNIT_INDEX" val="1_1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92.75023622047235,&quot;left&quot;:60.42503937007874,&quot;top&quot;:76.79984251968503,&quot;width&quot;:856.9499212598424}"/>
  <p:tag name="KSO_WM_DIAGRAM_COLOR_MATCH_VALUE" val="{&quot;shape&quot;:{&quot;fill&quot;:{&quot;solid&quot;:{&quot;brightness&quot;:0,&quot;colorType&quot;:1,&quot;foreColorIndex&quot;:5,&quot;transparency&quot;:0.620000004768371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20"/>
  <p:tag name="KSO_WM_UNIT_TEXT_TYPE" val="1"/>
  <p:tag name="KSO_WM_BEAUTIFY_FLAG" val="#wm#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8*88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1_1"/>
  <p:tag name="KSO_WM_UNIT_ID" val="diagram20233167_2*n_h_h_x*1_2_1_1"/>
  <p:tag name="KSO_WM_TEMPLATE_CATEGORY" val="diagram"/>
  <p:tag name="KSO_WM_TEMPLATE_INDEX" val="20233167"/>
  <p:tag name="KSO_WM_UNIT_LAYERLEVEL" val="1_1_1_1"/>
  <p:tag name="KSO_WM_TAG_VERSION" val="3.0"/>
  <p:tag name="KSO_WM_DIAGRAM_MAX_ITEMCNT" val="4"/>
  <p:tag name="KSO_WM_DIAGRAM_MIN_ITEMCNT" val="2"/>
  <p:tag name="KSO_WM_DIAGRAM_VIRTUALLY_FRAME" val="{&quot;height&quot;:392.75023622047235,&quot;left&quot;:60.42503937007874,&quot;top&quot;:76.79984251968503,&quot;width&quot;:856.949921259842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MH_SHAPE_GUID" val="15"/>
  <p:tag name="KSO_WM_DIAGRAM_USE_COLOR_VALUE" val="{&quot;color_scheme&quot;:1,&quot;color_type&quot;:1,&quot;theme_color_indexes&quot;:[5,6,5,6,5,6]}"/>
</p:tagLst>
</file>

<file path=ppt/tags/tag10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8*8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2_1"/>
  <p:tag name="KSO_WM_UNIT_ID" val="diagram20233167_2*n_h_h_x*1_2_2_1"/>
  <p:tag name="KSO_WM_TEMPLATE_CATEGORY" val="diagram"/>
  <p:tag name="KSO_WM_TEMPLATE_INDEX" val="20233167"/>
  <p:tag name="KSO_WM_UNIT_LAYERLEVEL" val="1_1_1_1"/>
  <p:tag name="KSO_WM_TAG_VERSION" val="3.0"/>
  <p:tag name="KSO_WM_DIAGRAM_MAX_ITEMCNT" val="4"/>
  <p:tag name="KSO_WM_DIAGRAM_MIN_ITEMCNT" val="2"/>
  <p:tag name="KSO_WM_DIAGRAM_VIRTUALLY_FRAME" val="{&quot;height&quot;:392.75023622047235,&quot;left&quot;:60.42503937007874,&quot;top&quot;:76.79984251968503,&quot;width&quot;:856.949921259842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MH_SHAPE_GUID" val="23"/>
  <p:tag name="KSO_WM_DIAGRAM_USE_COLOR_VALUE" val="{&quot;color_scheme&quot;:1,&quot;color_type&quot;:1,&quot;theme_color_indexes&quot;:[5,6,5,6,5,6]}"/>
</p:tagLst>
</file>

<file path=ppt/tags/tag10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8*75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3_1"/>
  <p:tag name="KSO_WM_UNIT_ID" val="diagram20233167_2*n_h_h_x*1_2_3_1"/>
  <p:tag name="KSO_WM_TEMPLATE_CATEGORY" val="diagram"/>
  <p:tag name="KSO_WM_TEMPLATE_INDEX" val="20233167"/>
  <p:tag name="KSO_WM_UNIT_LAYERLEVEL" val="1_1_1_1"/>
  <p:tag name="KSO_WM_TAG_VERSION" val="3.0"/>
  <p:tag name="KSO_WM_DIAGRAM_MAX_ITEMCNT" val="4"/>
  <p:tag name="KSO_WM_DIAGRAM_MIN_ITEMCNT" val="2"/>
  <p:tag name="KSO_WM_DIAGRAM_VIRTUALLY_FRAME" val="{&quot;height&quot;:392.75023622047235,&quot;left&quot;:60.42503937007874,&quot;top&quot;:76.79984251968503,&quot;width&quot;:856.949921259842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MH_SHAPE_GUID" val="14"/>
  <p:tag name="KSO_WM_DIAGRAM_USE_COLOR_VALUE" val="{&quot;color_scheme&quot;:1,&quot;color_type&quot;:1,&quot;theme_color_indexes&quot;:[5,6,5,6,5,6]}"/>
</p:tagLst>
</file>

<file path=ppt/tags/tag10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3167_2*n_h_h_f*1_2_3_1"/>
  <p:tag name="KSO_WM_TEMPLATE_CATEGORY" val="diagram"/>
  <p:tag name="KSO_WM_TEMPLATE_INDEX" val="2023316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92.75023622047235,&quot;left&quot;:60.42503937007874,&quot;top&quot;:76.79984251968503,&quot;width&quot;:856.949921259842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n1-1"/>
  <p:tag name="KSO_WM_UNIT_TEXT_TYPE" val="1"/>
  <p:tag name="KSO_WM_UNIT_TEXT_LAYER_COUNT" val="1"/>
  <p:tag name="KSO_WM_BEAUTIFY_FLAG" val="#wm#"/>
  <p:tag name="KSO_WM_UNIT_PRESET_TEXT" val="单击此处添加文本具体内容，文字是您思想的提炼，简明扼要地阐述您的观点。根据需要可酌情增减文字，以便观者准确地理解您传达的思想。单击此处添加文本具体内容，文字是您思想的提炼，简明扼要地阐述您的观点。根据需要可酌情增减文字，以便观者准确地理解您传达的思想。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3167_2*n_h_h_f*1_2_1_1"/>
  <p:tag name="KSO_WM_TEMPLATE_CATEGORY" val="diagram"/>
  <p:tag name="KSO_WM_TEMPLATE_INDEX" val="2023316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92.75023622047235,&quot;left&quot;:60.42503937007874,&quot;top&quot;:76.79984251968503,&quot;width&quot;:856.949921259842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n1-1"/>
  <p:tag name="KSO_WM_UNIT_TEXT_TYPE" val="1"/>
  <p:tag name="KSO_WM_UNIT_TEXT_LAYER_COUNT" val="1"/>
  <p:tag name="KSO_WM_BEAUTIFY_FLAG" val="#wm#"/>
  <p:tag name="KSO_WM_UNIT_PRESET_TEXT" val="单击此处添加文本具体内容，文字是您思想的提炼，简明扼要地阐述您的观点。根据需要可酌情增减文字，以便观者准确地理解您传达的思想。单击此处添加文本具体内容，文字是您思想的提炼，简明扼要地阐述您的观点。根据需要可酌情增减文字，以便观者准确地理解您传达的思想。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3167_2*n_h_h_f*1_2_2_1"/>
  <p:tag name="KSO_WM_TEMPLATE_CATEGORY" val="diagram"/>
  <p:tag name="KSO_WM_TEMPLATE_INDEX" val="2023316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92.75023622047235,&quot;left&quot;:60.42503937007874,&quot;top&quot;:76.79984251968503,&quot;width&quot;:856.949921259842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n1-1"/>
  <p:tag name="KSO_WM_UNIT_TEXT_TYPE" val="1"/>
  <p:tag name="KSO_WM_UNIT_TEXT_LAYER_COUNT" val="1"/>
  <p:tag name="KSO_WM_BEAUTIFY_FLAG" val="#wm#"/>
  <p:tag name="KSO_WM_UNIT_PRESET_TEXT" val="单击此处添加你的文本具体内容，文字是您思想的提炼，简明扼要地阐述您的内容观点。根据需要可酌情增减文字，以便观者准确地理解您传达的思想。单击此处添加文本具体内容，文字是您思想的提炼简明扼要地阐述您的内容观点。根据需要可酌情增减文字，以便观者准确地理解您传达的思想。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h_i"/>
  <p:tag name="KSO_WM_UNIT_INDEX" val="1_2_1_1"/>
  <p:tag name="KSO_WM_UNIT_ID" val="diagram20233167_2*n_h_h_i*1_2_1_1"/>
  <p:tag name="KSO_WM_TEMPLATE_CATEGORY" val="diagram"/>
  <p:tag name="KSO_WM_TEMPLATE_INDEX" val="2023316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92.75023622047235,&quot;left&quot;:60.42503937007874,&quot;top&quot;:76.79984251968503,&quot;width&quot;:856.949921259842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h_i"/>
  <p:tag name="KSO_WM_UNIT_INDEX" val="1_2_2_1"/>
  <p:tag name="KSO_WM_UNIT_ID" val="diagram20233167_2*n_h_h_i*1_2_2_1"/>
  <p:tag name="KSO_WM_TEMPLATE_CATEGORY" val="diagram"/>
  <p:tag name="KSO_WM_TEMPLATE_INDEX" val="2023316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92.75023622047235,&quot;left&quot;:60.42503937007874,&quot;top&quot;:76.79984251968503,&quot;width&quot;:856.949921259842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30000001192092896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h_i"/>
  <p:tag name="KSO_WM_UNIT_INDEX" val="1_2_3_1"/>
  <p:tag name="KSO_WM_UNIT_ID" val="diagram20233167_2*n_h_h_i*1_2_3_1"/>
  <p:tag name="KSO_WM_TEMPLATE_CATEGORY" val="diagram"/>
  <p:tag name="KSO_WM_TEMPLATE_INDEX" val="2023316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92.75023622047235,&quot;left&quot;:60.42503937007874,&quot;top&quot;:76.79984251968503,&quot;width&quot;:856.949921259842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12479,3322139]}"/>
</p:tagLst>
</file>

<file path=ppt/tags/tag11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TABLE_ENDDRAG_ORIGIN_RECT" val="429*145"/>
  <p:tag name="TABLE_ENDDRAG_RECT" val="499*356*429*145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TABLE_ENDDRAG_ORIGIN_RECT" val="429*177"/>
  <p:tag name="TABLE_ENDDRAG_RECT" val="273*229*429*177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DIAGRAM_VIRTUALLY_FRAME" val="{&quot;height&quot;:65.8,&quot;left&quot;:249.7,&quot;top&quot;:359.35,&quot;width&quot;:453.55}"/>
</p:tagLst>
</file>

<file path=ppt/tags/tag125.xml><?xml version="1.0" encoding="utf-8"?>
<p:tagLst xmlns:p="http://schemas.openxmlformats.org/presentationml/2006/main">
  <p:tag name="KSO_WM_DIAGRAM_VIRTUALLY_FRAME" val="{&quot;height&quot;:65.8,&quot;left&quot;:249.7,&quot;top&quot;:359.35,&quot;width&quot;:453.55}"/>
</p:tagLst>
</file>

<file path=ppt/tags/tag126.xml><?xml version="1.0" encoding="utf-8"?>
<p:tagLst xmlns:p="http://schemas.openxmlformats.org/presentationml/2006/main">
  <p:tag name="KSO_WM_DIAGRAM_VIRTUALLY_FRAME" val="{&quot;height&quot;:65.8,&quot;left&quot;:249.7,&quot;top&quot;:359.35,&quot;width&quot;:453.55}"/>
</p:tagLst>
</file>

<file path=ppt/tags/tag127.xml><?xml version="1.0" encoding="utf-8"?>
<p:tagLst xmlns:p="http://schemas.openxmlformats.org/presentationml/2006/main">
  <p:tag name="KSO_WM_DIAGRAM_VIRTUALLY_FRAME" val="{&quot;height&quot;:65.8,&quot;left&quot;:249.7,&quot;top&quot;:359.35,&quot;width&quot;:453.55}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resource_record_key" val="{&quot;65&quot;:[20205081],&quot;70&quot;:[3312479,3322139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1973</Words>
  <Application>WPS 演示</Application>
  <PresentationFormat>宽屏</PresentationFormat>
  <Paragraphs>250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Wingdings</vt:lpstr>
      <vt:lpstr>Arial Unicode MS</vt:lpstr>
      <vt:lpstr>Gill Sans</vt:lpstr>
      <vt:lpstr>Segoe Print</vt:lpstr>
      <vt:lpstr>黑体</vt:lpstr>
      <vt:lpstr>等线</vt:lpstr>
      <vt:lpstr>Arial</vt:lpstr>
      <vt:lpstr>Adobe Arabic</vt:lpstr>
      <vt:lpstr>DejaVu Math TeX Gyre</vt:lpstr>
      <vt:lpstr>Arial Unicode MS</vt:lpstr>
      <vt:lpstr>Calibri</vt:lpstr>
      <vt:lpstr>Saturday Sans Regular</vt:lpstr>
      <vt:lpstr>komorebi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彭智行</cp:lastModifiedBy>
  <cp:revision>169</cp:revision>
  <dcterms:created xsi:type="dcterms:W3CDTF">2019-06-19T02:08:00Z</dcterms:created>
  <dcterms:modified xsi:type="dcterms:W3CDTF">2026-03-14T14:19:05Z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KSOTemplateUUID">
    <vt:lpwstr>v1.0_mb_oaqRPzRuAOvHhw7le7LihQ==</vt:lpwstr>
  </property>
  <property fmtid="{D5CDD505-2E9C-101B-9397-08002B2CF9AE}" pid="4" name="ICV">
    <vt:lpwstr>66B374549F53483BB661257077849D5A_11</vt:lpwstr>
  </property>
</Properties>
</file>